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8"/>
    <p:sldId id="264" r:id="rId19"/>
    <p:sldId id="265" r:id="rId20"/>
    <p:sldId id="266" r:id="rId21"/>
    <p:sldId id="267" r:id="rId22"/>
  </p:sldIdLst>
  <p:sldSz cx="18288000" cy="10287000"/>
  <p:notesSz cx="6858000" cy="9144000"/>
  <p:embeddedFontLst>
    <p:embeddedFont>
      <p:font typeface="League Spartan" panose="020B0604020202020204" charset="0"/>
      <p:regular r:id="rId10"/>
    </p:embeddedFont>
    <p:embeddedFont>
      <p:font typeface="Source Sans 3" panose="020B0604020202020204" charset="0"/>
      <p:regular r:id="rId11"/>
    </p:embeddedFont>
    <p:embeddedFont>
      <p:font typeface="Source Sans 3 Bold" panose="020B0604020202020204" charset="0"/>
      <p:regular r:id="rId12"/>
    </p:embeddedFont>
    <p:embeddedFont>
      <p:font typeface="Source Sans 3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  <Relationship Id="rId18" Type="http://schemas.openxmlformats.org/officeDocument/2006/relationships/slide" Target="slides/slide8.xml"/>
  <Relationship Id="rId19" Type="http://schemas.openxmlformats.org/officeDocument/2006/relationships/slide" Target="slides/slide9.xml"/>
  <Relationship Id="rId20" Type="http://schemas.openxmlformats.org/officeDocument/2006/relationships/slide" Target="slides/slide10.xml"/>
  <Relationship Id="rId21" Type="http://schemas.openxmlformats.org/officeDocument/2006/relationships/slide" Target="slides/slide11.xml"/>
  <Relationship Id="rId22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Raid Replay, Lossless track.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team. Fill in team name, names and SRNs before submitting.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Say the pitch slowly, then the stat.</a:t>
            </a:r>
          </a:p>
          <a:p>
            <a:r>
              <a:rPr lang="en-US"/>
              <a:t>230 million viewers figure: KabaddiPy paper (CMSAC 2024), citing Pro Kabaddi League viewership.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IPTC is the body behind news-industry formats like NewsML and SportsML. Sport Schema is its newest standard (v1.1).</a:t>
            </a:r>
          </a:p>
          <a:p>
            <a:r>
              <a:rPr lang="en-US"/>
              <a:t>IPTC's own page says plugins cover 10 sports such as soccer, motor racing, tennis, rugby and esports.</a:t>
            </a:r>
          </a:p>
          <a:p>
            <a:r>
              <a:rPr lang="en-US"/>
              <a:t>Say 'no open, published standard covers kabaddi', not 'nothing exists anywhere'. We can't prove a negative.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Call it a 'proposed' plugin: IPTC hasn't approved it. If we post it to IPTC's public sports mailing list before the event, mention any reply.</a:t>
            </a:r>
          </a:p>
          <a:p>
            <a:r>
              <a:rPr lang="en-US"/>
              <a:t>Kabaddi terms live in our own namespace on top of Sport Schema's core classes.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Round-trip traps we've already planned for: RDF graphs have no built-in order and no null.</a:t>
            </a:r>
          </a:p>
          <a:p>
            <a:r>
              <a:rPr lang="en-US"/>
              <a:t>Every raid gets a sequence number, missing values have one agreed encoding, and the diff compares JSON with sorted keys and consistent number types.</a:t>
            </a:r>
          </a:p>
          <a:p>
            <a:r>
              <a:rPr lang="en-US"/>
              <a:t>Validation = IPTC's official SHACL shapes for the core schema + our own shapes for kabaddi terms.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Test matches: a normal match, a tie, the Season 10 semi-final, one full of super tackles, do-or-die raids and all-outs, and one with cards, reviews and substitutions. Add one with missing fields if time allows.</a:t>
            </a:r>
          </a:p>
          <a:p>
            <a:r>
              <a:rPr lang="en-US"/>
              <a:t>Be upfront that the mat animation is symbolic: raid data has no player positions, so it shows the raider crossing and who goes out.</a:t>
            </a:r>
          </a:p>
          <a:p>
            <a:r>
              <a:rPr lang="en-US"/>
              <a:t>Backup: if the kabaddiPy authors don't reply, real matches are demo-only and the synthetic match is our shareable sample.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/>
            <a:r>
              <a:rPr lang="en-US" dirty="0"/>
              <a:t>Everything on the proposal's 'What we'll definitely finish' list is done, plus the stretch goal: real data. The left column is the plan from slide 6; the right card is the headline: all 1,060 matches in kabaddiPy-data, seasons 1 to 10, go to Sport Schema and back with zero differences.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/>
            <a:r>
              <a:rPr lang="en-US" dirty="0"/>
              <a:t>Four numbers. Zero differences across 2,130 files. 90 of 90 tests. 12 of 12 deliberate corruptions caught, five by the diff and seven by the validator. And the checker isn't a rubber stamp: remove our plugin and IPTC's own closed shapes reject every single file.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/>
            <a:r>
              <a:rPr lang="en-US" dirty="0"/>
              <a:t>This is the part that answers 'you designed both formats'. kabaddiPy-data is the official match-centre feed, a format we did not design. It forced two new rules: null is not missing, and references are typed. Licence: the dataset has no licence file, so as our proposal planned, real matches are demo-only and not in our repo.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/>
            <a:r>
              <a:rPr lang="en-US" dirty="0"/>
              <a:t>A standard is only useful if it catches real problems. On the left, what our rules flagged in the official feed: the same field means two different things. On the right, six bugs in IPTC's own release that stop strict tools from reading it. We report them; we don't hide them.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/>
            <a:r>
              <a:rPr lang="en-US" dirty="0"/>
              <a:t>Open site/real.html, press F for full screen. Point at the two scoreboards and the diff badge. Then switch to the terminal: python -m kabaddipy validate (passes, with the feed's warnings) and python -m kabaddipy validate --no-plugin (IPTC rejects it). Be upfront: positions are illustrative; the feed records who raided and who was touched, not where anyone stood, so revivals follow the rules.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90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98382"/>
            <a:ext cx="7992726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spc="-5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Confluence </a:t>
            </a:r>
            <a:r>
              <a:rPr lang="en-US" sz="5479" spc="-5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Buildathon</a:t>
            </a:r>
            <a:endParaRPr lang="en-US" sz="5479" spc="-55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0564" y="3492579"/>
            <a:ext cx="4067235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IEEE CS . PES University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80564" y="4384777"/>
            <a:ext cx="16140713" cy="3427809"/>
            <a:chOff x="0" y="0"/>
            <a:chExt cx="21520950" cy="45704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20911" cy="4570349"/>
            </a:xfrm>
            <a:custGeom>
              <a:avLst/>
              <a:gdLst/>
              <a:ahLst/>
              <a:cxnLst/>
              <a:rect l="l" t="t" r="r" b="b"/>
              <a:pathLst>
                <a:path w="21520911" h="4570349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21459189" y="0"/>
                  </a:lnTo>
                  <a:cubicBezTo>
                    <a:pt x="21493353" y="0"/>
                    <a:pt x="21520911" y="27686"/>
                    <a:pt x="21520911" y="61722"/>
                  </a:cubicBezTo>
                  <a:lnTo>
                    <a:pt x="21520911" y="4508627"/>
                  </a:lnTo>
                  <a:cubicBezTo>
                    <a:pt x="21520911" y="4542790"/>
                    <a:pt x="21493226" y="4570349"/>
                    <a:pt x="21459189" y="4570349"/>
                  </a:cubicBezTo>
                  <a:lnTo>
                    <a:pt x="61722" y="4570349"/>
                  </a:lnTo>
                  <a:cubicBezTo>
                    <a:pt x="27559" y="4570349"/>
                    <a:pt x="0" y="4542663"/>
                    <a:pt x="0" y="450862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80564" y="4384777"/>
            <a:ext cx="8070352" cy="1713900"/>
            <a:chOff x="0" y="0"/>
            <a:chExt cx="10760469" cy="2285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51435" y="0"/>
                  </a:moveTo>
                  <a:lnTo>
                    <a:pt x="10760456" y="0"/>
                  </a:lnTo>
                  <a:lnTo>
                    <a:pt x="10760456" y="2285238"/>
                  </a:lnTo>
                  <a:lnTo>
                    <a:pt x="0" y="2285238"/>
                  </a:lnTo>
                  <a:lnTo>
                    <a:pt x="0" y="51435"/>
                  </a:lnTo>
                  <a:cubicBezTo>
                    <a:pt x="0" y="22987"/>
                    <a:pt x="22987" y="0"/>
                    <a:pt x="51435" y="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389317" y="46840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9317" y="5250647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Sunday, October 25th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50925" y="4384777"/>
            <a:ext cx="8070352" cy="1713900"/>
            <a:chOff x="0" y="0"/>
            <a:chExt cx="10760469" cy="2285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09021" y="0"/>
                  </a:lnTo>
                  <a:cubicBezTo>
                    <a:pt x="10737469" y="0"/>
                    <a:pt x="10760456" y="22987"/>
                    <a:pt x="10760456" y="51435"/>
                  </a:cubicBezTo>
                  <a:lnTo>
                    <a:pt x="10760456" y="2285238"/>
                  </a:lnTo>
                  <a:lnTo>
                    <a:pt x="0" y="2285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150925" y="4384777"/>
            <a:ext cx="38129" cy="1713900"/>
            <a:chOff x="0" y="0"/>
            <a:chExt cx="50838" cy="2285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2285238"/>
            </a:xfrm>
            <a:custGeom>
              <a:avLst/>
              <a:gdLst/>
              <a:ahLst/>
              <a:cxnLst/>
              <a:rect l="l" t="t" r="r" b="b"/>
              <a:pathLst>
                <a:path w="50800" h="228523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59838"/>
                  </a:lnTo>
                  <a:cubicBezTo>
                    <a:pt x="50800" y="2273935"/>
                    <a:pt x="39370" y="2285238"/>
                    <a:pt x="25400" y="2285238"/>
                  </a:cubicBezTo>
                  <a:cubicBezTo>
                    <a:pt x="11430" y="2285238"/>
                    <a:pt x="0" y="2273808"/>
                    <a:pt x="0" y="2259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459678" y="46840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Time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59678" y="5250647"/>
            <a:ext cx="7452846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8:00 AM – 6:00 PM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80564" y="6098677"/>
            <a:ext cx="8070352" cy="1713900"/>
            <a:chOff x="0" y="0"/>
            <a:chExt cx="10760469" cy="2285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60456" y="0"/>
                  </a:lnTo>
                  <a:lnTo>
                    <a:pt x="10760456" y="2285238"/>
                  </a:lnTo>
                  <a:lnTo>
                    <a:pt x="51435" y="2285238"/>
                  </a:lnTo>
                  <a:cubicBezTo>
                    <a:pt x="22987" y="2285238"/>
                    <a:pt x="0" y="2262251"/>
                    <a:pt x="0" y="22338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80564" y="6098677"/>
            <a:ext cx="8070352" cy="38129"/>
            <a:chOff x="0" y="0"/>
            <a:chExt cx="10760469" cy="50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60456" cy="50800"/>
            </a:xfrm>
            <a:custGeom>
              <a:avLst/>
              <a:gdLst/>
              <a:ahLst/>
              <a:cxnLst/>
              <a:rect l="l" t="t" r="r" b="b"/>
              <a:pathLst>
                <a:path w="10760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35056" y="0"/>
                  </a:lnTo>
                  <a:cubicBezTo>
                    <a:pt x="10749153" y="0"/>
                    <a:pt x="10760456" y="11430"/>
                    <a:pt x="10760456" y="25400"/>
                  </a:cubicBezTo>
                  <a:cubicBezTo>
                    <a:pt x="10760456" y="39497"/>
                    <a:pt x="10749026" y="50800"/>
                    <a:pt x="10735056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389317" y="63979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Venue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9317" y="6964556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13th Floor, BE Block, PES University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50925" y="6098677"/>
            <a:ext cx="8070352" cy="1713900"/>
            <a:chOff x="0" y="0"/>
            <a:chExt cx="10760469" cy="2285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60456" y="0"/>
                  </a:lnTo>
                  <a:lnTo>
                    <a:pt x="10760456" y="2233803"/>
                  </a:lnTo>
                  <a:cubicBezTo>
                    <a:pt x="10760456" y="2262251"/>
                    <a:pt x="10737469" y="2285238"/>
                    <a:pt x="10709022" y="2285238"/>
                  </a:cubicBezTo>
                  <a:lnTo>
                    <a:pt x="0" y="2285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150925" y="6098677"/>
            <a:ext cx="38129" cy="1713900"/>
            <a:chOff x="0" y="0"/>
            <a:chExt cx="50838" cy="2285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800" cy="2285238"/>
            </a:xfrm>
            <a:custGeom>
              <a:avLst/>
              <a:gdLst/>
              <a:ahLst/>
              <a:cxnLst/>
              <a:rect l="l" t="t" r="r" b="b"/>
              <a:pathLst>
                <a:path w="50800" h="228523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59838"/>
                  </a:lnTo>
                  <a:cubicBezTo>
                    <a:pt x="50800" y="2273935"/>
                    <a:pt x="39370" y="2285238"/>
                    <a:pt x="25400" y="2285238"/>
                  </a:cubicBezTo>
                  <a:cubicBezTo>
                    <a:pt x="11430" y="2285238"/>
                    <a:pt x="0" y="2273808"/>
                    <a:pt x="0" y="2259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150925" y="6098677"/>
            <a:ext cx="8070352" cy="38129"/>
            <a:chOff x="0" y="0"/>
            <a:chExt cx="10760469" cy="508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60456" cy="50800"/>
            </a:xfrm>
            <a:custGeom>
              <a:avLst/>
              <a:gdLst/>
              <a:ahLst/>
              <a:cxnLst/>
              <a:rect l="l" t="t" r="r" b="b"/>
              <a:pathLst>
                <a:path w="10760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35056" y="0"/>
                  </a:lnTo>
                  <a:cubicBezTo>
                    <a:pt x="10749153" y="0"/>
                    <a:pt x="10760456" y="11430"/>
                    <a:pt x="10760456" y="25400"/>
                  </a:cubicBezTo>
                  <a:cubicBezTo>
                    <a:pt x="10760456" y="39497"/>
                    <a:pt x="10749026" y="50800"/>
                    <a:pt x="10735056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9459678" y="63979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Team Size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59678" y="6964556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3–4 members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 &amp; Track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8193" y="3612100"/>
            <a:ext cx="6448987" cy="4064546"/>
            <a:chOff x="0" y="0"/>
            <a:chExt cx="8598649" cy="5419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598535" cy="5419344"/>
            </a:xfrm>
            <a:custGeom>
              <a:avLst/>
              <a:gdLst/>
              <a:ahLst/>
              <a:cxnLst/>
              <a:rect l="l" t="t" r="r" b="b"/>
              <a:pathLst>
                <a:path w="8598535" h="5419344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536813" y="0"/>
                  </a:lnTo>
                  <a:cubicBezTo>
                    <a:pt x="8570976" y="0"/>
                    <a:pt x="8598535" y="27686"/>
                    <a:pt x="8598535" y="61722"/>
                  </a:cubicBezTo>
                  <a:lnTo>
                    <a:pt x="8598535" y="5357622"/>
                  </a:lnTo>
                  <a:cubicBezTo>
                    <a:pt x="8598535" y="5391785"/>
                    <a:pt x="8570849" y="5419344"/>
                    <a:pt x="8536813" y="5419344"/>
                  </a:cubicBezTo>
                  <a:lnTo>
                    <a:pt x="61722" y="5419344"/>
                  </a:lnTo>
                  <a:cubicBezTo>
                    <a:pt x="27559" y="5419344"/>
                    <a:pt x="0" y="5391658"/>
                    <a:pt x="0" y="5357622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66946" y="3930368"/>
            <a:ext cx="2229922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We 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946" y="4592060"/>
            <a:ext cx="5831481" cy="265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Team Name</a:t>
            </a:r>
          </a:p>
          <a:p>
            <a:pPr algn="l">
              <a:lnSpc>
                <a:spcPct val="100000"/>
              </a:lnSpc>
            </a:pPr>
            <a:r>
              <a:rPr lang="en-US" sz="240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Byte Tackle</a:t>
            </a:r>
            <a:endParaRPr lang="en-US" sz="2401" dirty="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Project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Raid Replay</a:t>
            </a:r>
          </a:p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Track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Lossless – Bridging systems and formats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47686" y="3930368"/>
            <a:ext cx="257002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 the Team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7847686" y="4706836"/>
            <a:ext cx="4537034" cy="1156849"/>
          </a:xfrm>
          <a:custGeom>
            <a:avLst/>
            <a:gdLst/>
            <a:ahLst/>
            <a:cxnLst/>
            <a:rect l="l" t="t" r="r" b="b"/>
            <a:pathLst>
              <a:path w="4537034" h="1156849">
                <a:moveTo>
                  <a:pt x="0" y="0"/>
                </a:moveTo>
                <a:lnTo>
                  <a:pt x="4537033" y="0"/>
                </a:lnTo>
                <a:lnTo>
                  <a:pt x="4537033" y="1156850"/>
                </a:lnTo>
                <a:lnTo>
                  <a:pt x="0" y="1156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4" b="-56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8347091" y="4977537"/>
            <a:ext cx="3690757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 MANAS SIDDHARDHA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PES1UG24AM186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12693472" y="4706836"/>
            <a:ext cx="4537186" cy="1156849"/>
          </a:xfrm>
          <a:custGeom>
            <a:avLst/>
            <a:gdLst/>
            <a:ahLst/>
            <a:cxnLst/>
            <a:rect l="l" t="t" r="r" b="b"/>
            <a:pathLst>
              <a:path w="4537186" h="1156849">
                <a:moveTo>
                  <a:pt x="0" y="0"/>
                </a:moveTo>
                <a:lnTo>
                  <a:pt x="4537186" y="0"/>
                </a:lnTo>
                <a:lnTo>
                  <a:pt x="4537186" y="1156850"/>
                </a:lnTo>
                <a:lnTo>
                  <a:pt x="0" y="1156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6" b="-56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TextBox 11"/>
          <p:cNvSpPr txBox="1"/>
          <p:nvPr/>
        </p:nvSpPr>
        <p:spPr>
          <a:xfrm>
            <a:off x="13192877" y="4977537"/>
            <a:ext cx="3690899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Rohith 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Karning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PES1UG24AM229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7847686" y="6172458"/>
            <a:ext cx="4537034" cy="1156849"/>
          </a:xfrm>
          <a:custGeom>
            <a:avLst/>
            <a:gdLst/>
            <a:ahLst/>
            <a:cxnLst/>
            <a:rect l="l" t="t" r="r" b="b"/>
            <a:pathLst>
              <a:path w="4537034" h="1156849">
                <a:moveTo>
                  <a:pt x="0" y="0"/>
                </a:moveTo>
                <a:lnTo>
                  <a:pt x="4537033" y="0"/>
                </a:lnTo>
                <a:lnTo>
                  <a:pt x="4537033" y="1156849"/>
                </a:lnTo>
                <a:lnTo>
                  <a:pt x="0" y="1156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4" b="-56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TextBox 13"/>
          <p:cNvSpPr txBox="1"/>
          <p:nvPr/>
        </p:nvSpPr>
        <p:spPr>
          <a:xfrm>
            <a:off x="8347091" y="6375488"/>
            <a:ext cx="3690757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 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Bhuvanashree</a:t>
            </a:r>
            <a:b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PES1UG24AM235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2693472" y="6172458"/>
            <a:ext cx="4537186" cy="1156849"/>
          </a:xfrm>
          <a:custGeom>
            <a:avLst/>
            <a:gdLst/>
            <a:ahLst/>
            <a:cxnLst/>
            <a:rect l="l" t="t" r="r" b="b"/>
            <a:pathLst>
              <a:path w="4537186" h="1156849">
                <a:moveTo>
                  <a:pt x="0" y="0"/>
                </a:moveTo>
                <a:lnTo>
                  <a:pt x="4537186" y="0"/>
                </a:lnTo>
                <a:lnTo>
                  <a:pt x="4537186" y="1156849"/>
                </a:lnTo>
                <a:lnTo>
                  <a:pt x="0" y="1156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6" b="-56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13077845" y="6376789"/>
            <a:ext cx="3690899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Pabbisetty Harshitha Sai</a:t>
            </a:r>
            <a:b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PES1UG24AM182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Line Pitch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45336" y="3886200"/>
            <a:ext cx="9418320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Raid Replay</a:t>
            </a:r>
            <a:r>
              <a:rPr lang="en-US" sz="240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gives kabaddi the open data standard it's missing: a lossless, two-way bridge between Pro Kabaddi raid‑by‑raid data and IPTC Sport Schema.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80564" y="3611880"/>
            <a:ext cx="38129" cy="1920240"/>
            <a:chOff x="0" y="0"/>
            <a:chExt cx="50838" cy="15436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800" cy="1543685"/>
            </a:xfrm>
            <a:custGeom>
              <a:avLst/>
              <a:gdLst/>
              <a:ahLst/>
              <a:cxnLst/>
              <a:rect l="l" t="t" r="r" b="b"/>
              <a:pathLst>
                <a:path w="50800" h="1543685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518285"/>
                  </a:lnTo>
                  <a:cubicBezTo>
                    <a:pt x="50800" y="1532382"/>
                    <a:pt x="39370" y="1543685"/>
                    <a:pt x="25400" y="1543685"/>
                  </a:cubicBezTo>
                  <a:cubicBezTo>
                    <a:pt x="11430" y="1543685"/>
                    <a:pt x="0" y="1532255"/>
                    <a:pt x="0" y="1518285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545336" y="5989320"/>
            <a:ext cx="9418320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230 million people watch Pro Kabaddi, yet no open sports-data standard can describe a single raid.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0" name="Picture 10" descr="Illustration of a kabaddi mat: a raider crosses the midline, tags a defender for one point and returns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2331720"/>
            <a:ext cx="5559552" cy="49871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Existing Software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80564" y="3959428"/>
            <a:ext cx="694658" cy="694677"/>
            <a:chOff x="0" y="0"/>
            <a:chExt cx="926211" cy="9262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6211" cy="926211"/>
            </a:xfrm>
            <a:custGeom>
              <a:avLst/>
              <a:gdLst/>
              <a:ahLst/>
              <a:cxnLst/>
              <a:rect l="l" t="t" r="r" b="b"/>
              <a:pathLst>
                <a:path w="926211" h="9262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4489" y="0"/>
                  </a:lnTo>
                  <a:cubicBezTo>
                    <a:pt x="898652" y="0"/>
                    <a:pt x="926211" y="27686"/>
                    <a:pt x="926211" y="61722"/>
                  </a:cubicBezTo>
                  <a:lnTo>
                    <a:pt x="926211" y="864489"/>
                  </a:lnTo>
                  <a:cubicBezTo>
                    <a:pt x="926211" y="898652"/>
                    <a:pt x="898525" y="926211"/>
                    <a:pt x="864489" y="926211"/>
                  </a:cubicBezTo>
                  <a:lnTo>
                    <a:pt x="61722" y="926211"/>
                  </a:lnTo>
                  <a:cubicBezTo>
                    <a:pt x="27686" y="926211"/>
                    <a:pt x="0" y="898652"/>
                    <a:pt x="0" y="86448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17438" y="4043658"/>
            <a:ext cx="420910" cy="720952"/>
            <a:chOff x="0" y="0"/>
            <a:chExt cx="561213" cy="9612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1208" cy="961273"/>
            </a:xfrm>
            <a:custGeom>
              <a:avLst/>
              <a:gdLst/>
              <a:ahLst/>
              <a:cxnLst/>
              <a:rect l="l" t="t" r="r" b="b"/>
              <a:pathLst>
                <a:path w="561208" h="961273">
                  <a:moveTo>
                    <a:pt x="0" y="0"/>
                  </a:moveTo>
                  <a:lnTo>
                    <a:pt x="561208" y="0"/>
                  </a:lnTo>
                  <a:lnTo>
                    <a:pt x="561208" y="961273"/>
                  </a:lnTo>
                  <a:lnTo>
                    <a:pt x="0" y="961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5" r="-110405" b="2701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61213" cy="9612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-33">
                  <a:solidFill>
                    <a:srgbClr val="3D38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83975" y="4055954"/>
            <a:ext cx="2363093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Software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0602" y="4975399"/>
            <a:ext cx="6690274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Standard: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IPTC Sport Schema — sportschema.org</a:t>
            </a:r>
          </a:p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Data: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kabaddiPy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github.com/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kabaddiPy</a:t>
            </a:r>
            <a:endParaRPr lang="en-US" sz="2401" dirty="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80564" y="6356547"/>
            <a:ext cx="694658" cy="694677"/>
            <a:chOff x="0" y="0"/>
            <a:chExt cx="926211" cy="9262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6211" cy="926211"/>
            </a:xfrm>
            <a:custGeom>
              <a:avLst/>
              <a:gdLst/>
              <a:ahLst/>
              <a:cxnLst/>
              <a:rect l="l" t="t" r="r" b="b"/>
              <a:pathLst>
                <a:path w="926211" h="9262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4489" y="0"/>
                  </a:lnTo>
                  <a:cubicBezTo>
                    <a:pt x="898652" y="0"/>
                    <a:pt x="926211" y="27686"/>
                    <a:pt x="926211" y="61722"/>
                  </a:cubicBezTo>
                  <a:lnTo>
                    <a:pt x="926211" y="864489"/>
                  </a:lnTo>
                  <a:cubicBezTo>
                    <a:pt x="926211" y="898652"/>
                    <a:pt x="898525" y="926211"/>
                    <a:pt x="864489" y="926211"/>
                  </a:cubicBezTo>
                  <a:lnTo>
                    <a:pt x="61722" y="926211"/>
                  </a:lnTo>
                  <a:cubicBezTo>
                    <a:pt x="27686" y="926211"/>
                    <a:pt x="0" y="898652"/>
                    <a:pt x="0" y="86448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17438" y="6440776"/>
            <a:ext cx="420910" cy="720952"/>
            <a:chOff x="0" y="0"/>
            <a:chExt cx="561213" cy="9612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1208" cy="961273"/>
            </a:xfrm>
            <a:custGeom>
              <a:avLst/>
              <a:gdLst/>
              <a:ahLst/>
              <a:cxnLst/>
              <a:rect l="l" t="t" r="r" b="b"/>
              <a:pathLst>
                <a:path w="561208" h="961273">
                  <a:moveTo>
                    <a:pt x="0" y="0"/>
                  </a:moveTo>
                  <a:lnTo>
                    <a:pt x="561208" y="0"/>
                  </a:lnTo>
                  <a:lnTo>
                    <a:pt x="561208" y="961273"/>
                  </a:lnTo>
                  <a:lnTo>
                    <a:pt x="0" y="961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5" r="-110405" b="2701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61213" cy="9612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-33">
                  <a:solidFill>
                    <a:srgbClr val="3D38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083975" y="6356547"/>
            <a:ext cx="2224802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It Does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3975" y="7133796"/>
            <a:ext cx="669027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 Schema is IPTC's open standard for sharing sports results, stats and play-by-play. kabaddiPy collects raid-by-raid data from 10 seasons of Pro Kabaddi.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537125" y="3959428"/>
            <a:ext cx="7693685" cy="2971800"/>
            <a:chOff x="0" y="0"/>
            <a:chExt cx="10258247" cy="279876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58171" cy="2798699"/>
            </a:xfrm>
            <a:custGeom>
              <a:avLst/>
              <a:gdLst/>
              <a:ahLst/>
              <a:cxnLst/>
              <a:rect l="l" t="t" r="r" b="b"/>
              <a:pathLst>
                <a:path w="10258171" h="2798699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196449" y="0"/>
                  </a:lnTo>
                  <a:cubicBezTo>
                    <a:pt x="10230485" y="0"/>
                    <a:pt x="10258171" y="27686"/>
                    <a:pt x="10258171" y="61722"/>
                  </a:cubicBezTo>
                  <a:lnTo>
                    <a:pt x="10258171" y="2736977"/>
                  </a:lnTo>
                  <a:cubicBezTo>
                    <a:pt x="10258171" y="2771013"/>
                    <a:pt x="10230485" y="2798699"/>
                    <a:pt x="10196449" y="2798699"/>
                  </a:cubicBezTo>
                  <a:lnTo>
                    <a:pt x="61722" y="2798699"/>
                  </a:lnTo>
                  <a:cubicBezTo>
                    <a:pt x="27686" y="2798699"/>
                    <a:pt x="0" y="2771013"/>
                    <a:pt x="0" y="273697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830773" y="4279468"/>
            <a:ext cx="7106390" cy="89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 Gap We Found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 Schema has plugins for 10 sports, but none for kabaddi. Raids, super tackles, do‑or‑die raids and all‑outs have no standard home, so every dataset uses a one‑off format.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7125" y="8595436"/>
            <a:ext cx="7693685" cy="89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Kabaddi is our first step: the same plugin pattern works for any sport the standards leave out.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24" name="Picture 24" descr="Sport Schema plugins include soccer, tennis, rugby and esports, but not kabaddi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2" y="7223836"/>
            <a:ext cx="769010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Idea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0564" y="6537960"/>
            <a:ext cx="363140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We're Building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0564" y="7095744"/>
            <a:ext cx="512296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proposed kabaddi plugin for IPTC Sport Schema, plus a converter that turns Pro Kabaddi raid data into Sport Schema and back.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89432" y="6537960"/>
            <a:ext cx="4307167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Improvement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89433" y="7095744"/>
            <a:ext cx="512296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raid, tackle, bonus, all-out, card and review becomes standard data that any news site, fantasy app or analyst can read.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8312" y="6537961"/>
            <a:ext cx="474188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It Fits the Track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98312" y="7095744"/>
            <a:ext cx="5122964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lossless bridge between two named systems, kabaddiPy data and IPTC Sport Schema, round-tripped on 5 matches with 0 differences.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2" name="Picture 12" descr="kabaddiPy data converts to Raid Replay's converter and kabaddi plugin, then to IPTC Sport Schema, and back again with 0 differences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611880"/>
            <a:ext cx="16139159" cy="2395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86940" y="4055082"/>
            <a:ext cx="363658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&amp; Technologies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86940" y="4716775"/>
            <a:ext cx="7315200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Python + rdflib: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Sport Schema graphs as JSON-LD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pySHACL: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IPTC's shapes plus our kabaddi shapes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kabaddiPy-data: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raid-by-raid data, seasons 1–10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DeepDiff: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round-trip check, 0 differences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HTML, SVG + JavaScript: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animated replay mat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72382" y="4055082"/>
            <a:ext cx="684889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We'll Definitely Finish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72382" y="4716099"/>
            <a:ext cx="6848894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Kabaddi vocabulary + validation shapes: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raids, tackles, bonus, super tackles, do-or-die, all-outs, cards, reviews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Two-way converter: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to Sport Schema and back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Round-trip proof: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5 test matches, 0 differences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Then: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raid-by-raid replay of the Season 10 semi-final</a:t>
            </a:r>
          </a:p>
        </p:txBody>
      </p:sp>
      <p:sp>
        <p:nvSpPr>
          <p:cNvPr id="7" name="AutoShape 7"/>
          <p:cNvSpPr/>
          <p:nvPr/>
        </p:nvSpPr>
        <p:spPr>
          <a:xfrm flipH="1" flipV="1">
            <a:off x="9144000" y="4064607"/>
            <a:ext cx="0" cy="5577579"/>
          </a:xfrm>
          <a:prstGeom prst="line">
            <a:avLst/>
          </a:prstGeom>
          <a:ln w="38100" cap="flat">
            <a:solidFill>
              <a:srgbClr val="85858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We'll Show It Works</a:t>
            </a:r>
          </a:p>
        </p:txBody>
      </p:sp>
      <p:sp>
        <p:nvSpPr>
          <p:cNvPr id="3" name="Freeform 3" descr="preencoded.png"/>
          <p:cNvSpPr/>
          <p:nvPr/>
        </p:nvSpPr>
        <p:spPr>
          <a:xfrm>
            <a:off x="1080564" y="3766547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1" y="0"/>
                </a:lnTo>
                <a:lnTo>
                  <a:pt x="5174351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27445" y="5030201"/>
            <a:ext cx="271724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Before vs. After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7445" y="5587308"/>
            <a:ext cx="4480589" cy="146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5 matches go to Sport Schema and back with 0 differences, and every file passes validation.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6563668" y="3766547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1" y="0"/>
                </a:lnTo>
                <a:lnTo>
                  <a:pt x="5174351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10549" y="5030201"/>
            <a:ext cx="2296835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10549" y="5587308"/>
            <a:ext cx="4480589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Sports news sites, fantasy apps, kabaddi analysts and coaches, and other kabaddi leagues.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2046772" y="3766547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2" y="0"/>
                </a:lnTo>
                <a:lnTo>
                  <a:pt x="5174352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393663" y="4824124"/>
            <a:ext cx="3349347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 &amp; Backup Plan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93663" y="5587308"/>
            <a:ext cx="4480589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kabaddiPy-data has no licence file. We'll ask its authors and keep a synthetic match ready.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78992" y="7780592"/>
            <a:ext cx="1613915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Live demo: </a:t>
            </a: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the Season 10 semi-final replays raid by raid on an animated mat, driven only by our converted file. Same scoreboard from both formats, diff = 0.</a:t>
            </a:r>
          </a:p>
        </p:txBody>
      </p:sp>
      <p:pic>
        <p:nvPicPr>
          <p:cNvPr id="21" name="Picture 21" descr="Round-tri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7445" y="3995146"/>
            <a:ext cx="548640" cy="548640"/>
          </a:xfrm>
          <a:prstGeom prst="rect">
            <a:avLst/>
          </a:prstGeom>
        </p:spPr>
      </p:pic>
      <p:pic>
        <p:nvPicPr>
          <p:cNvPr id="22" name="Picture 22" descr="Peopl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0549" y="3995146"/>
            <a:ext cx="548640" cy="548640"/>
          </a:xfrm>
          <a:prstGeom prst="rect">
            <a:avLst/>
          </a:prstGeom>
        </p:spPr>
      </p:pic>
      <p:pic>
        <p:nvPicPr>
          <p:cNvPr id="23" name="Picture 23" descr="Shield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3663" y="3995146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1" name="Title 101"/>
          <p:cNvSpPr txBox="1"/>
          <p:nvPr/>
        </p:nvSpPr>
        <p:spPr>
          <a:xfrm>
            <a:off x="1078992" y="2103120"/>
            <a:ext cx="155448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 Delivered</a:t>
            </a:r>
          </a:p>
        </p:txBody>
      </p:sp>
      <p:sp>
        <p:nvSpPr>
          <p:cNvPr id="102" name="Badge 102"/>
          <p:cNvSpPr/>
          <p:nvPr/>
        </p:nvSpPr>
        <p:spPr>
          <a:xfrm>
            <a:off x="1078992" y="3557016"/>
            <a:ext cx="457200" cy="4572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✓</a:t>
            </a:r>
          </a:p>
        </p:txBody>
      </p:sp>
      <p:sp>
        <p:nvSpPr>
          <p:cNvPr id="103" name="Row 103"/>
          <p:cNvSpPr txBox="1"/>
          <p:nvPr/>
        </p:nvSpPr>
        <p:spPr>
          <a:xfrm>
            <a:off x="1783080" y="35204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Kabaddi plugin for Sport Schema</a:t>
            </a:r>
          </a:p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6 classes, ~40 properties, SHACL shapes with 5 rules of the game</a:t>
            </a:r>
          </a:p>
        </p:txBody>
      </p:sp>
      <p:sp>
        <p:nvSpPr>
          <p:cNvPr id="104" name="Badge 104"/>
          <p:cNvSpPr/>
          <p:nvPr/>
        </p:nvSpPr>
        <p:spPr>
          <a:xfrm>
            <a:off x="1078992" y="4535424"/>
            <a:ext cx="457200" cy="4572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✓</a:t>
            </a:r>
          </a:p>
        </p:txBody>
      </p:sp>
      <p:sp>
        <p:nvSpPr>
          <p:cNvPr id="105" name="Row 105"/>
          <p:cNvSpPr txBox="1"/>
          <p:nvPr/>
        </p:nvSpPr>
        <p:spPr>
          <a:xfrm>
            <a:off x="1783080" y="4498848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Two-way converter</a:t>
            </a:r>
          </a:p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native kabaddi JSON ⇄ Sport Schema Turtle and JSON-LD</a:t>
            </a:r>
          </a:p>
        </p:txBody>
      </p:sp>
      <p:sp>
        <p:nvSpPr>
          <p:cNvPr id="106" name="Badge 106"/>
          <p:cNvSpPr/>
          <p:nvPr/>
        </p:nvSpPr>
        <p:spPr>
          <a:xfrm>
            <a:off x="1078992" y="5513832"/>
            <a:ext cx="457200" cy="4572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✓</a:t>
            </a:r>
          </a:p>
        </p:txBody>
      </p:sp>
      <p:sp>
        <p:nvSpPr>
          <p:cNvPr id="107" name="Row 107"/>
          <p:cNvSpPr txBox="1"/>
          <p:nvPr/>
        </p:nvSpPr>
        <p:spPr>
          <a:xfrm>
            <a:off x="1783080" y="5477256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Round-trip proof</a:t>
            </a:r>
          </a:p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5 test matches (normal, tie, final, dense, discipline): 0 differences</a:t>
            </a:r>
          </a:p>
        </p:txBody>
      </p:sp>
      <p:sp>
        <p:nvSpPr>
          <p:cNvPr id="108" name="Badge 108"/>
          <p:cNvSpPr/>
          <p:nvPr/>
        </p:nvSpPr>
        <p:spPr>
          <a:xfrm>
            <a:off x="1078992" y="6492240"/>
            <a:ext cx="457200" cy="4572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✓</a:t>
            </a:r>
          </a:p>
        </p:txBody>
      </p:sp>
      <p:sp>
        <p:nvSpPr>
          <p:cNvPr id="109" name="Row 109"/>
          <p:cNvSpPr txBox="1"/>
          <p:nvPr/>
        </p:nvSpPr>
        <p:spPr>
          <a:xfrm>
            <a:off x="1783080" y="6455664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Real kabaddiPy data</a:t>
            </a:r>
          </a:p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official PKL feed, seasons 1–10: every match there and back</a:t>
            </a:r>
          </a:p>
        </p:txBody>
      </p:sp>
      <p:sp>
        <p:nvSpPr>
          <p:cNvPr id="110" name="Badge 110"/>
          <p:cNvSpPr/>
          <p:nvPr/>
        </p:nvSpPr>
        <p:spPr>
          <a:xfrm>
            <a:off x="1078992" y="7470648"/>
            <a:ext cx="457200" cy="4572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✓</a:t>
            </a:r>
          </a:p>
        </p:txBody>
      </p:sp>
      <p:sp>
        <p:nvSpPr>
          <p:cNvPr id="111" name="Row 111"/>
          <p:cNvSpPr txBox="1"/>
          <p:nvPr/>
        </p:nvSpPr>
        <p:spPr>
          <a:xfrm>
            <a:off x="1783080" y="7434072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Season 10 knockout replay</a:t>
            </a:r>
          </a:p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both semi-finals and the final, driven by the JSON-LD alone</a:t>
            </a:r>
          </a:p>
        </p:txBody>
      </p:sp>
      <p:sp>
        <p:nvSpPr>
          <p:cNvPr id="112" name="Badge 112"/>
          <p:cNvSpPr/>
          <p:nvPr/>
        </p:nvSpPr>
        <p:spPr>
          <a:xfrm>
            <a:off x="1078992" y="8449056"/>
            <a:ext cx="457200" cy="4572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✓</a:t>
            </a:r>
          </a:p>
        </p:txBody>
      </p:sp>
      <p:sp>
        <p:nvSpPr>
          <p:cNvPr id="113" name="Row 113"/>
          <p:cNvSpPr txBox="1"/>
          <p:nvPr/>
        </p:nvSpPr>
        <p:spPr>
          <a:xfrm>
            <a:off x="1783080" y="841248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Validation</a:t>
            </a:r>
          </a:p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file passes IPTC's own shapes plus our plugin</a:t>
            </a:r>
          </a:p>
        </p:txBody>
      </p:sp>
      <p:sp>
        <p:nvSpPr>
          <p:cNvPr id="114" name="Stat card 114"/>
          <p:cNvSpPr/>
          <p:nvPr/>
        </p:nvSpPr>
        <p:spPr>
          <a:xfrm>
            <a:off x="11201400" y="3520440"/>
            <a:ext cx="6016752" cy="5760720"/>
          </a:xfrm>
          <a:prstGeom prst="roundRect">
            <a:avLst>
              <a:gd name="adj" fmla="val 6000"/>
            </a:avLst>
          </a:prstGeom>
          <a:solidFill>
            <a:srgbClr val="2D2E34"/>
          </a:solidFill>
          <a:ln>
            <a:noFill/>
          </a:ln>
        </p:spPr>
        <p:txBody>
          <a:bodyPr wrap="square" lIns="457200" tIns="457200" rIns="457200" bIns="457200" rtlCol="0" anchor="ctr"/>
          <a:lstStyle/>
          <a:p>
            <a:pPr algn="l">
              <a:spcAft>
                <a:spcPts val="1800"/>
              </a:spcAft>
            </a:pPr>
            <a:r>
              <a:rPr lang="en-US" sz="1500" b="1" spc="100">
                <a:solidFill>
                  <a:srgbClr val="C9CCD1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PROMISED IN THE PROPOSAL → BUILT</a:t>
            </a:r>
          </a:p>
          <a:p>
            <a:pPr algn="l">
              <a:lnSpc>
                <a:spcPts val="10000"/>
              </a:lnSpc>
            </a:pPr>
            <a:r>
              <a:rPr lang="en-US" sz="96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1,060</a:t>
            </a:r>
          </a:p>
          <a:p>
            <a:pPr algn="l">
              <a:lnSpc>
                <a:spcPts val="3100"/>
              </a:lnSpc>
              <a:spcAft>
                <a:spcPts val="1400"/>
              </a:spcAft>
            </a:pPr>
            <a:r>
              <a:rPr lang="en-US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 Pro Kabaddi matches converted to Sport Schema and back</a:t>
            </a:r>
          </a:p>
          <a:p>
            <a:pPr algn="l">
              <a:lnSpc>
                <a:spcPts val="3600"/>
              </a:lnSpc>
              <a:spcAft>
                <a:spcPts val="1400"/>
              </a:spcAft>
            </a:pPr>
            <a:r>
              <a:rPr lang="en-US" sz="3000" b="1">
                <a:solidFill>
                  <a:srgbClr val="F5822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 differences</a:t>
            </a:r>
          </a:p>
          <a:p>
            <a:pPr algn="l">
              <a:lnSpc>
                <a:spcPts val="2400"/>
              </a:lnSpc>
            </a:pPr>
            <a:r>
              <a:rPr lang="en-US" sz="1800">
                <a:solidFill>
                  <a:srgbClr val="C9CCD1"/>
                </a:solidFill>
                <a:latin typeface="Source Sans 3"/>
                <a:ea typeface="Source Sans 3"/>
                <a:cs typeface="Source Sans 3"/>
                <a:sym typeface="Source Sans 3"/>
              </a:rPr>
              <a:t>103,176 play-by-play events · 4.29 million RDF triples · Turtle and JSON-LD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5" name="Title 115"/>
          <p:cNvSpPr txBox="1"/>
          <p:nvPr/>
        </p:nvSpPr>
        <p:spPr>
          <a:xfrm>
            <a:off x="1078992" y="2103120"/>
            <a:ext cx="155448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Proof It's Lossless</a:t>
            </a:r>
          </a:p>
        </p:txBody>
      </p:sp>
      <p:sp>
        <p:nvSpPr>
          <p:cNvPr id="116" name="Proof card 116"/>
          <p:cNvSpPr/>
          <p:nvPr/>
        </p:nvSpPr>
        <p:spPr>
          <a:xfrm>
            <a:off x="1078992" y="3520440"/>
            <a:ext cx="3630168" cy="3886200"/>
          </a:xfrm>
          <a:prstGeom prst="roundRect">
            <a:avLst>
              <a:gd name="adj" fmla="val 6000"/>
            </a:avLst>
          </a:prstGeom>
          <a:solidFill>
            <a:srgbClr val="F1F0EE"/>
          </a:solidFill>
          <a:ln>
            <a:noFill/>
          </a:ln>
        </p:spPr>
        <p:txBody>
          <a:bodyPr wrap="square" lIns="365760" tIns="365760" rIns="365760" bIns="365760" rtlCol="0" anchor="t"/>
          <a:lstStyle/>
          <a:p>
            <a:pPr algn="l">
              <a:lnSpc>
                <a:spcPts val="6600"/>
              </a:lnSpc>
              <a:spcAft>
                <a:spcPts val="1000"/>
              </a:spcAft>
            </a:pPr>
            <a:r>
              <a:rPr lang="en-US" sz="56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2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differences after the round trip</a:t>
            </a:r>
          </a:p>
          <a:p>
            <a:pPr algn="l">
              <a:lnSpc>
                <a:spcPts val="2400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10 simulated files + all 1,060 real matches, in Turtle and in JSON-LD (DeepDiff)</a:t>
            </a:r>
          </a:p>
        </p:txBody>
      </p:sp>
      <p:sp>
        <p:nvSpPr>
          <p:cNvPr id="117" name="Proof card 117"/>
          <p:cNvSpPr/>
          <p:nvPr/>
        </p:nvSpPr>
        <p:spPr>
          <a:xfrm>
            <a:off x="4937760" y="3520440"/>
            <a:ext cx="3630168" cy="3886200"/>
          </a:xfrm>
          <a:prstGeom prst="roundRect">
            <a:avLst>
              <a:gd name="adj" fmla="val 6000"/>
            </a:avLst>
          </a:prstGeom>
          <a:solidFill>
            <a:srgbClr val="F1F0EE"/>
          </a:solidFill>
          <a:ln>
            <a:noFill/>
          </a:ln>
        </p:spPr>
        <p:txBody>
          <a:bodyPr wrap="square" lIns="365760" tIns="365760" rIns="365760" bIns="365760" rtlCol="0" anchor="t"/>
          <a:lstStyle/>
          <a:p>
            <a:pPr algn="l">
              <a:lnSpc>
                <a:spcPts val="6600"/>
              </a:lnSpc>
              <a:spcAft>
                <a:spcPts val="1000"/>
              </a:spcAft>
            </a:pPr>
            <a:r>
              <a:rPr lang="en-US" sz="56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90 / 90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2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tests pass</a:t>
            </a:r>
          </a:p>
          <a:p>
            <a:pPr algn="l">
              <a:lnSpc>
                <a:spcPts val="2400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round trip, validation, negative tests, simulator rules, real feed</a:t>
            </a:r>
          </a:p>
        </p:txBody>
      </p:sp>
      <p:sp>
        <p:nvSpPr>
          <p:cNvPr id="118" name="Proof card 118"/>
          <p:cNvSpPr/>
          <p:nvPr/>
        </p:nvSpPr>
        <p:spPr>
          <a:xfrm>
            <a:off x="8796528" y="3520440"/>
            <a:ext cx="3630168" cy="3886200"/>
          </a:xfrm>
          <a:prstGeom prst="roundRect">
            <a:avLst>
              <a:gd name="adj" fmla="val 6000"/>
            </a:avLst>
          </a:prstGeom>
          <a:solidFill>
            <a:srgbClr val="F1F0EE"/>
          </a:solidFill>
          <a:ln>
            <a:noFill/>
          </a:ln>
        </p:spPr>
        <p:txBody>
          <a:bodyPr wrap="square" lIns="365760" tIns="365760" rIns="365760" bIns="365760" rtlCol="0" anchor="t"/>
          <a:lstStyle/>
          <a:p>
            <a:pPr algn="l">
              <a:lnSpc>
                <a:spcPts val="6600"/>
              </a:lnSpc>
              <a:spcAft>
                <a:spcPts val="1000"/>
              </a:spcAft>
            </a:pPr>
            <a:r>
              <a:rPr lang="en-US" sz="56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 / 12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2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deliberate corruptions caught</a:t>
            </a:r>
          </a:p>
          <a:p>
            <a:pPr algn="l">
              <a:lnSpc>
                <a:spcPts val="2400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 → "2", false → 0, swapped raids, a purple card, a 45-second raid …</a:t>
            </a:r>
          </a:p>
        </p:txBody>
      </p:sp>
      <p:sp>
        <p:nvSpPr>
          <p:cNvPr id="119" name="Proof card 119"/>
          <p:cNvSpPr/>
          <p:nvPr/>
        </p:nvSpPr>
        <p:spPr>
          <a:xfrm>
            <a:off x="12655296" y="3520440"/>
            <a:ext cx="3630168" cy="3886200"/>
          </a:xfrm>
          <a:prstGeom prst="roundRect">
            <a:avLst>
              <a:gd name="adj" fmla="val 6000"/>
            </a:avLst>
          </a:prstGeom>
          <a:solidFill>
            <a:srgbClr val="F1F0EE"/>
          </a:solidFill>
          <a:ln>
            <a:noFill/>
          </a:ln>
        </p:spPr>
        <p:txBody>
          <a:bodyPr wrap="square" lIns="365760" tIns="365760" rIns="365760" bIns="365760" rtlCol="0" anchor="t"/>
          <a:lstStyle/>
          <a:p>
            <a:pPr algn="l">
              <a:lnSpc>
                <a:spcPts val="6600"/>
              </a:lnSpc>
              <a:spcAft>
                <a:spcPts val="1000"/>
              </a:spcAft>
            </a:pPr>
            <a:r>
              <a:rPr lang="en-US" sz="56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2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violations with our plugin</a:t>
            </a:r>
          </a:p>
          <a:p>
            <a:pPr algn="l">
              <a:lnSpc>
                <a:spcPts val="2400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without it, IPTC's own shapes reject every file: 1,751–3,626 violations each</a:t>
            </a:r>
          </a:p>
        </p:txBody>
      </p:sp>
      <p:sp>
        <p:nvSpPr>
          <p:cNvPr id="120" name="Caption 120"/>
          <p:cNvSpPr txBox="1"/>
          <p:nvPr/>
        </p:nvSpPr>
        <p:spPr>
          <a:xfrm>
            <a:off x="1078992" y="7863840"/>
            <a:ext cx="1613916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2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 xml:space="preserve">Not a fake pass: </a:t>
            </a:r>
            <a:r>
              <a:rPr lang="en-US" sz="2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diff checks types (2 ≠ "2", false ≠ 0, null ≠ missing), and the validator is strict enough to reject every file when our plugin is removed. The live page re-checks 3,649 fields in the browser.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1" name="Title 121"/>
          <p:cNvSpPr txBox="1"/>
          <p:nvPr/>
        </p:nvSpPr>
        <p:spPr>
          <a:xfrm>
            <a:off x="1078992" y="2103120"/>
            <a:ext cx="155448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 Pro Kabaddi Data</a:t>
            </a:r>
          </a:p>
        </p:txBody>
      </p:sp>
      <p:sp>
        <p:nvSpPr>
          <p:cNvPr id="122" name="Intro 122"/>
          <p:cNvSpPr txBox="1"/>
          <p:nvPr/>
        </p:nvSpPr>
        <p:spPr>
          <a:xfrm>
            <a:off x="1078992" y="3200400"/>
            <a:ext cx="16139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200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The official PKL feed is messier than our simulator. Three rules make it lossless:</a:t>
            </a:r>
          </a:p>
        </p:txBody>
      </p:sp>
      <p:sp>
        <p:nvSpPr>
          <p:cNvPr id="123" name="Rule card 123"/>
          <p:cNvSpPr/>
          <p:nvPr/>
        </p:nvSpPr>
        <p:spPr>
          <a:xfrm>
            <a:off x="1078992" y="3977640"/>
            <a:ext cx="9601200" cy="1600200"/>
          </a:xfrm>
          <a:prstGeom prst="roundRect">
            <a:avLst>
              <a:gd name="adj" fmla="val 6000"/>
            </a:avLst>
          </a:prstGeom>
          <a:solidFill>
            <a:srgbClr val="F1F0EE"/>
          </a:solidFill>
          <a:ln>
            <a:noFill/>
          </a:ln>
        </p:spPr>
      </p:sp>
      <p:sp>
        <p:nvSpPr>
          <p:cNvPr id="124" name="Badge 124"/>
          <p:cNvSpPr/>
          <p:nvPr/>
        </p:nvSpPr>
        <p:spPr>
          <a:xfrm>
            <a:off x="1371600" y="4297680"/>
            <a:ext cx="566928" cy="566928"/>
          </a:xfrm>
          <a:prstGeom prst="ellipse">
            <a:avLst/>
          </a:prstGeom>
          <a:solidFill>
            <a:srgbClr val="2D2E34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</a:t>
            </a:r>
          </a:p>
        </p:txBody>
      </p:sp>
      <p:sp>
        <p:nvSpPr>
          <p:cNvPr id="125" name="Rule 125"/>
          <p:cNvSpPr txBox="1"/>
          <p:nvPr/>
        </p:nvSpPr>
        <p:spPr>
          <a:xfrm>
            <a:off x="2240280" y="4233672"/>
            <a:ext cx="81838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Null ≠ missing</a:t>
            </a:r>
          </a:p>
          <a:p>
            <a:pPr algn="l">
              <a:lnSpc>
                <a:spcPts val="2500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About 150 deliberate nulls per match. An explicit null becomes kab:nullField "defender_id" and comes back as null.</a:t>
            </a:r>
          </a:p>
        </p:txBody>
      </p:sp>
      <p:sp>
        <p:nvSpPr>
          <p:cNvPr id="126" name="Rule card 126"/>
          <p:cNvSpPr/>
          <p:nvPr/>
        </p:nvSpPr>
        <p:spPr>
          <a:xfrm>
            <a:off x="1078992" y="5760720"/>
            <a:ext cx="9601200" cy="1600200"/>
          </a:xfrm>
          <a:prstGeom prst="roundRect">
            <a:avLst>
              <a:gd name="adj" fmla="val 6000"/>
            </a:avLst>
          </a:prstGeom>
          <a:solidFill>
            <a:srgbClr val="F1F0EE"/>
          </a:solidFill>
          <a:ln>
            <a:noFill/>
          </a:ln>
        </p:spPr>
      </p:sp>
      <p:sp>
        <p:nvSpPr>
          <p:cNvPr id="127" name="Badge 127"/>
          <p:cNvSpPr/>
          <p:nvPr/>
        </p:nvSpPr>
        <p:spPr>
          <a:xfrm>
            <a:off x="1371600" y="6080760"/>
            <a:ext cx="566928" cy="566928"/>
          </a:xfrm>
          <a:prstGeom prst="ellipse">
            <a:avLst/>
          </a:prstGeom>
          <a:solidFill>
            <a:srgbClr val="2D2E34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</a:t>
            </a:r>
          </a:p>
        </p:txBody>
      </p:sp>
      <p:sp>
        <p:nvSpPr>
          <p:cNvPr id="128" name="Rule 128"/>
          <p:cNvSpPr txBox="1"/>
          <p:nvPr/>
        </p:nvSpPr>
        <p:spPr>
          <a:xfrm>
            <a:off x="2240280" y="6016752"/>
            <a:ext cx="81838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Order is data</a:t>
            </a:r>
          </a:p>
          <a:p>
            <a:pPr algn="l">
              <a:lnSpc>
                <a:spcPts val="2500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event_no runs backwards in 354 of 1,060 matches, so events keep the feed's own order (sport:sequenceNumber, rdf:List).</a:t>
            </a:r>
          </a:p>
        </p:txBody>
      </p:sp>
      <p:sp>
        <p:nvSpPr>
          <p:cNvPr id="129" name="Rule card 129"/>
          <p:cNvSpPr/>
          <p:nvPr/>
        </p:nvSpPr>
        <p:spPr>
          <a:xfrm>
            <a:off x="1078992" y="7543800"/>
            <a:ext cx="9601200" cy="1600200"/>
          </a:xfrm>
          <a:prstGeom prst="roundRect">
            <a:avLst>
              <a:gd name="adj" fmla="val 6000"/>
            </a:avLst>
          </a:prstGeom>
          <a:solidFill>
            <a:srgbClr val="F1F0EE"/>
          </a:solidFill>
          <a:ln>
            <a:noFill/>
          </a:ln>
        </p:spPr>
      </p:sp>
      <p:sp>
        <p:nvSpPr>
          <p:cNvPr id="130" name="Badge 130"/>
          <p:cNvSpPr/>
          <p:nvPr/>
        </p:nvSpPr>
        <p:spPr>
          <a:xfrm>
            <a:off x="1371600" y="7863840"/>
            <a:ext cx="566928" cy="566928"/>
          </a:xfrm>
          <a:prstGeom prst="ellipse">
            <a:avLst/>
          </a:prstGeom>
          <a:solidFill>
            <a:srgbClr val="2D2E34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3</a:t>
            </a:r>
          </a:p>
        </p:txBody>
      </p:sp>
      <p:sp>
        <p:nvSpPr>
          <p:cNvPr id="131" name="Rule 131"/>
          <p:cNvSpPr txBox="1"/>
          <p:nvPr/>
        </p:nvSpPr>
        <p:spPr>
          <a:xfrm>
            <a:off x="2240280" y="7799832"/>
            <a:ext cx="81838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Typed references</a:t>
            </a:r>
          </a:p>
          <a:p>
            <a:pPr algn="l">
              <a:lnSpc>
                <a:spcPts val="2500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Team ids are "7" in the team list but 7 in events. Each comes back exactly as it was — unknown keys are an error.</a:t>
            </a:r>
          </a:p>
        </p:txBody>
      </p:sp>
      <p:sp>
        <p:nvSpPr>
          <p:cNvPr id="132" name="Stat 132"/>
          <p:cNvSpPr txBox="1"/>
          <p:nvPr/>
        </p:nvSpPr>
        <p:spPr>
          <a:xfrm>
            <a:off x="11292840" y="3977640"/>
            <a:ext cx="594360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582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103,176</a:t>
            </a:r>
          </a:p>
          <a:p>
            <a:pPr algn="l">
              <a:lnSpc>
                <a:spcPts val="2800"/>
              </a:lnSpc>
            </a:pPr>
            <a:r>
              <a:rPr lang="en-US" sz="2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play-by-play events</a:t>
            </a:r>
          </a:p>
        </p:txBody>
      </p:sp>
      <p:sp>
        <p:nvSpPr>
          <p:cNvPr id="133" name="Stat 133"/>
          <p:cNvSpPr txBox="1"/>
          <p:nvPr/>
        </p:nvSpPr>
        <p:spPr>
          <a:xfrm>
            <a:off x="11292840" y="5760720"/>
            <a:ext cx="594360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582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4.29 M</a:t>
            </a:r>
          </a:p>
          <a:p>
            <a:pPr algn="l">
              <a:lnSpc>
                <a:spcPts val="2800"/>
              </a:lnSpc>
            </a:pPr>
            <a:r>
              <a:rPr lang="en-US" sz="2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RDF triples</a:t>
            </a:r>
          </a:p>
        </p:txBody>
      </p:sp>
      <p:sp>
        <p:nvSpPr>
          <p:cNvPr id="134" name="Stat 134"/>
          <p:cNvSpPr txBox="1"/>
          <p:nvPr/>
        </p:nvSpPr>
        <p:spPr>
          <a:xfrm>
            <a:off x="11292840" y="7543800"/>
            <a:ext cx="594360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582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 / 3</a:t>
            </a:r>
          </a:p>
          <a:p>
            <a:pPr algn="l">
              <a:lnSpc>
                <a:spcPts val="2800"/>
              </a:lnSpc>
            </a:pPr>
            <a:r>
              <a:rPr lang="en-US" sz="2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Season 10 knockouts pass SHACL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5" name="Title 135"/>
          <p:cNvSpPr txBox="1"/>
          <p:nvPr/>
        </p:nvSpPr>
        <p:spPr>
          <a:xfrm>
            <a:off x="1078992" y="2103120"/>
            <a:ext cx="155448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Our Validator Found</a:t>
            </a:r>
          </a:p>
        </p:txBody>
      </p:sp>
      <p:sp>
        <p:nvSpPr>
          <p:cNvPr id="136" name="Findings card 136"/>
          <p:cNvSpPr/>
          <p:nvPr/>
        </p:nvSpPr>
        <p:spPr>
          <a:xfrm>
            <a:off x="1078992" y="3520440"/>
            <a:ext cx="7863840" cy="5120640"/>
          </a:xfrm>
          <a:prstGeom prst="roundRect">
            <a:avLst>
              <a:gd name="adj" fmla="val 6000"/>
            </a:avLst>
          </a:prstGeom>
          <a:solidFill>
            <a:srgbClr val="F1F0EE"/>
          </a:solidFill>
          <a:ln>
            <a:noFill/>
          </a:ln>
        </p:spPr>
        <p:txBody>
          <a:bodyPr wrap="square" lIns="457200" tIns="457200" rIns="457200" bIns="457200" rtlCol="0" anchor="t"/>
          <a:lstStyle/>
          <a:p>
            <a:pPr algn="l">
              <a:lnSpc>
                <a:spcPts val="3400"/>
              </a:lnSpc>
              <a:spcAft>
                <a:spcPts val="400"/>
              </a:spcAft>
            </a:pPr>
            <a:r>
              <a:rPr lang="en-US" sz="28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the official PKL feed</a:t>
            </a:r>
          </a:p>
          <a:p>
            <a:pPr algn="l">
              <a:lnSpc>
                <a:spcPts val="2400"/>
              </a:lnSpc>
              <a:spcAft>
                <a:spcPts val="1600"/>
              </a:spcAft>
            </a:pPr>
            <a:r>
              <a:rPr lang="en-US" sz="1800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Reported as warnings — converted as-is, never silently fixed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000" b="1">
                <a:solidFill>
                  <a:srgbClr val="F5822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 xml:space="preserve">1.  </a:t>
            </a: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raid_points includes technical / all-out points 742 times and leaves them out 1,276 times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000" b="1">
                <a:solidFill>
                  <a:srgbClr val="F5822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 xml:space="preserve">2.  </a:t>
            </a: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substitution's player_id means “coming on” in seasons 2–5, “going off” in seasons 1 and 6–10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000" b="1">
                <a:solidFill>
                  <a:srgbClr val="F5822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 xml:space="preserve">3.  </a:t>
            </a: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running score resets at half-time (20–11 + 17–10 = 37–21)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000" b="1">
                <a:solidFill>
                  <a:srgbClr val="F5822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 xml:space="preserve">4.  </a:t>
            </a: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–1 touch points; “Timeout” and “TimeOut” as two event types</a:t>
            </a:r>
          </a:p>
        </p:txBody>
      </p:sp>
      <p:sp>
        <p:nvSpPr>
          <p:cNvPr id="137" name="Findings card 137"/>
          <p:cNvSpPr/>
          <p:nvPr/>
        </p:nvSpPr>
        <p:spPr>
          <a:xfrm>
            <a:off x="9354312" y="3520440"/>
            <a:ext cx="7863840" cy="5120640"/>
          </a:xfrm>
          <a:prstGeom prst="roundRect">
            <a:avLst>
              <a:gd name="adj" fmla="val 6000"/>
            </a:avLst>
          </a:prstGeom>
          <a:solidFill>
            <a:srgbClr val="F1F0EE"/>
          </a:solidFill>
          <a:ln>
            <a:noFill/>
          </a:ln>
        </p:spPr>
        <p:txBody>
          <a:bodyPr wrap="square" lIns="457200" tIns="457200" rIns="457200" bIns="457200" rtlCol="0" anchor="t"/>
          <a:lstStyle/>
          <a:p>
            <a:pPr algn="l">
              <a:lnSpc>
                <a:spcPts val="3400"/>
              </a:lnSpc>
              <a:spcAft>
                <a:spcPts val="400"/>
              </a:spcAft>
            </a:pPr>
            <a:r>
              <a:rPr lang="en-US" sz="28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IPTC Sport Schema 1.1 itself</a:t>
            </a:r>
          </a:p>
          <a:p>
            <a:pPr algn="l">
              <a:lnSpc>
                <a:spcPts val="2400"/>
              </a:lnSpc>
              <a:spcAft>
                <a:spcPts val="1600"/>
              </a:spcAft>
            </a:pPr>
            <a:r>
              <a:rPr lang="en-US" sz="1800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Patched in memory; the official files stay untouched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000" b="1">
                <a:solidFill>
                  <a:srgbClr val="F5822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 xml:space="preserve">1.  </a:t>
            </a: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15 of 17 vocabulary files miss a full stop, so strict parsers can't read them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000" b="1">
                <a:solidFill>
                  <a:srgbClr val="F5822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 xml:space="preserve">2.  </a:t>
            </a: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6 shapes only Apache Jena tolerates; 4 shapes referenced but never defined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000" b="1">
                <a:solidFill>
                  <a:srgbClr val="F5822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 xml:space="preserve">3.  </a:t>
            </a: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skos:HasTopConcept typo, 228 times</a:t>
            </a:r>
          </a:p>
          <a:p>
            <a:pPr algn="l">
              <a:lnSpc>
                <a:spcPts val="2700"/>
              </a:lnSpc>
              <a:spcAft>
                <a:spcPts val="1200"/>
              </a:spcAft>
            </a:pPr>
            <a:r>
              <a:rPr lang="en-US" sz="2000" b="1">
                <a:solidFill>
                  <a:srgbClr val="F5822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 xml:space="preserve">4.  </a:t>
            </a: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Scores and sequence numbers typed as strings — the 2 vs “2” trap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8" name="Title 138"/>
          <p:cNvSpPr txBox="1"/>
          <p:nvPr/>
        </p:nvSpPr>
        <p:spPr>
          <a:xfrm>
            <a:off x="1078992" y="2103120"/>
            <a:ext cx="155448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Live Demo</a:t>
            </a:r>
          </a:p>
        </p:txBody>
      </p:sp>
      <p:pic>
        <p:nvPicPr>
          <p:cNvPr id="139" name="Picture 139" descr="Raid Replay mat replaying the real PKL Season 10 Semi-final 1, Puneri Paltan 16 Patna Pirates 11, raid 41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1078992" y="3429000"/>
            <a:ext cx="6392202" cy="5806440"/>
          </a:xfrm>
          <a:prstGeom prst="roundRect">
            <a:avLst>
              <a:gd name="adj" fmla="val 2500"/>
            </a:avLst>
          </a:prstGeom>
        </p:spPr>
      </p:pic>
      <p:sp>
        <p:nvSpPr>
          <p:cNvPr id="140" name="Badge 140"/>
          <p:cNvSpPr/>
          <p:nvPr/>
        </p:nvSpPr>
        <p:spPr>
          <a:xfrm>
            <a:off x="8019834" y="3474720"/>
            <a:ext cx="566928" cy="566928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</a:t>
            </a:r>
          </a:p>
        </p:txBody>
      </p:sp>
      <p:sp>
        <p:nvSpPr>
          <p:cNvPr id="141" name="Step 141"/>
          <p:cNvSpPr txBox="1"/>
          <p:nvPr/>
        </p:nvSpPr>
        <p:spPr>
          <a:xfrm>
            <a:off x="8842794" y="3429000"/>
            <a:ext cx="836621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Replay a real knockout</a:t>
            </a:r>
          </a:p>
          <a:p>
            <a:pPr algn="l">
              <a:lnSpc>
                <a:spcPts val="2500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Season 10 Semi-final 1, event by event, driven only by the Sport Schema JSON-LD</a:t>
            </a:r>
          </a:p>
        </p:txBody>
      </p:sp>
      <p:sp>
        <p:nvSpPr>
          <p:cNvPr id="142" name="Badge 142"/>
          <p:cNvSpPr/>
          <p:nvPr/>
        </p:nvSpPr>
        <p:spPr>
          <a:xfrm>
            <a:off x="8019834" y="4892040"/>
            <a:ext cx="566928" cy="566928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</a:t>
            </a:r>
          </a:p>
        </p:txBody>
      </p:sp>
      <p:sp>
        <p:nvSpPr>
          <p:cNvPr id="143" name="Step 143"/>
          <p:cNvSpPr txBox="1"/>
          <p:nvPr/>
        </p:nvSpPr>
        <p:spPr>
          <a:xfrm>
            <a:off x="8842794" y="4846320"/>
            <a:ext cx="836621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Two scoreboards, one result</a:t>
            </a:r>
          </a:p>
          <a:p>
            <a:pPr algn="l">
              <a:lnSpc>
                <a:spcPts val="2500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From the original feed and from Sport Schema: both end on the official 37–21</a:t>
            </a:r>
          </a:p>
        </p:txBody>
      </p:sp>
      <p:sp>
        <p:nvSpPr>
          <p:cNvPr id="144" name="Badge 144"/>
          <p:cNvSpPr/>
          <p:nvPr/>
        </p:nvSpPr>
        <p:spPr>
          <a:xfrm>
            <a:off x="8019834" y="6309360"/>
            <a:ext cx="566928" cy="566928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3</a:t>
            </a:r>
          </a:p>
        </p:txBody>
      </p:sp>
      <p:sp>
        <p:nvSpPr>
          <p:cNvPr id="145" name="Step 145"/>
          <p:cNvSpPr txBox="1"/>
          <p:nvPr/>
        </p:nvSpPr>
        <p:spPr>
          <a:xfrm>
            <a:off x="8842794" y="6263640"/>
            <a:ext cx="836621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diff = 0, in the browser</a:t>
            </a:r>
          </a:p>
          <a:p>
            <a:pPr algn="l">
              <a:lnSpc>
                <a:spcPts val="2500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page rebuilds the feed from JSON-LD and compares 3,649 fields</a:t>
            </a:r>
          </a:p>
        </p:txBody>
      </p:sp>
      <p:sp>
        <p:nvSpPr>
          <p:cNvPr id="146" name="Badge 146"/>
          <p:cNvSpPr/>
          <p:nvPr/>
        </p:nvSpPr>
        <p:spPr>
          <a:xfrm>
            <a:off x="8019834" y="7726680"/>
            <a:ext cx="566928" cy="566928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4</a:t>
            </a:r>
          </a:p>
        </p:txBody>
      </p:sp>
      <p:sp>
        <p:nvSpPr>
          <p:cNvPr id="147" name="Step 147"/>
          <p:cNvSpPr txBox="1"/>
          <p:nvPr/>
        </p:nvSpPr>
        <p:spPr>
          <a:xfrm>
            <a:off x="8842794" y="7680960"/>
            <a:ext cx="836621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lang="en-US" sz="24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Query it</a:t>
            </a:r>
          </a:p>
          <a:p>
            <a:pPr algn="l">
              <a:lnSpc>
                <a:spcPts val="2500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python -m kabaddipy query — every do-or-die raid and super raid of the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854</Words>
  <Application>Microsoft Office PowerPoint</Application>
  <PresentationFormat>Custom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Source Sans 3</vt:lpstr>
      <vt:lpstr>Source Sans 3 Bold</vt:lpstr>
      <vt:lpstr>Source Sans 3 Italics</vt:lpstr>
      <vt:lpstr>Calibri</vt:lpstr>
      <vt:lpstr>League Spartan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Confluence-Buildathon .pptx</dc:title>
  <dc:creator>MANAS SIDDHARDHA P</dc:creator>
  <cp:lastModifiedBy>MANAS SIDDHARDHA P</cp:lastModifiedBy>
  <cp:revision>5</cp:revision>
  <dcterms:created xsi:type="dcterms:W3CDTF">2006-08-16T00:00:00Z</dcterms:created>
  <dcterms:modified xsi:type="dcterms:W3CDTF">2026-10-21T06:17:34Z</dcterms:modified>
  <dc:identifier>DAHX_KLmqzA</dc:identifier>
</cp:coreProperties>
</file>