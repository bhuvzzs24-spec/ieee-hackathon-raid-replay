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eague Spartan" panose="020B0604020202020204" charset="0"/>
      <p:regular r:id="rId10"/>
    </p:embeddedFont>
    <p:embeddedFont>
      <p:font typeface="Source Sans 3" panose="020B0604020202020204" charset="0"/>
      <p:regular r:id="rId11"/>
    </p:embeddedFont>
    <p:embeddedFont>
      <p:font typeface="Source Sans 3 Bold" panose="020B0604020202020204" charset="0"/>
      <p:regular r:id="rId12"/>
    </p:embeddedFont>
    <p:embeddedFont>
      <p:font typeface="Source Sans 3 Italics" panose="020B0604020202020204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21.10.2026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Raid Replay, Lossless track.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Introduce the team. Fill in team name, names and SRNs before submitting.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Say the pitch slowly, then the stat.</a:t>
            </a:r>
          </a:p>
          <a:p>
            <a:r>
              <a:rPr lang="en-US"/>
              <a:t>230 million viewers figure: KabaddiPy paper (CMSAC 2024), citing Pro Kabaddi League viewership.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IPTC is the body behind news-industry formats like NewsML and SportsML. Sport Schema is its newest standard (v1.1).</a:t>
            </a:r>
          </a:p>
          <a:p>
            <a:r>
              <a:rPr lang="en-US"/>
              <a:t>IPTC's own page says plugins cover 10 sports such as soccer, motor racing, tennis, rugby and esports.</a:t>
            </a:r>
          </a:p>
          <a:p>
            <a:r>
              <a:rPr lang="en-US"/>
              <a:t>Say 'no open, published standard covers kabaddi', not 'nothing exists anywhere'. We can't prove a negative.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Call it a 'proposed' plugin: IPTC hasn't approved it. If we post it to IPTC's public sports mailing list before the event, mention any reply.</a:t>
            </a:r>
          </a:p>
          <a:p>
            <a:r>
              <a:rPr lang="en-US"/>
              <a:t>Kabaddi terms live in our own namespace on top of Sport Schema's core classes.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Round-trip traps we've already planned for: RDF graphs have no built-in order and no null.</a:t>
            </a:r>
          </a:p>
          <a:p>
            <a:r>
              <a:rPr lang="en-US"/>
              <a:t>Every raid gets a sequence number, missing values have one agreed encoding, and the diff compares JSON with sorted keys and consistent number types.</a:t>
            </a:r>
          </a:p>
          <a:p>
            <a:r>
              <a:rPr lang="en-US"/>
              <a:t>Validation = IPTC's official SHACL shapes for the core schema + our own shapes for kabaddi terms.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Test matches: a normal match, a tie, the Season 10 semi-final, one full of super tackles, do-or-die raids and all-outs, and one with cards, reviews and substitutions. Add one with missing fields if time allows.</a:t>
            </a:r>
          </a:p>
          <a:p>
            <a:r>
              <a:rPr lang="en-US"/>
              <a:t>Be upfront that the mat animation is symbolic: raid data has no player positions, so it shows the raider crossing and who goes out.</a:t>
            </a:r>
          </a:p>
          <a:p>
            <a:r>
              <a:rPr lang="en-US"/>
              <a:t>Backup: if the kabaddiPy authors don't reply, real matches are demo-only and the synthetic match is our shareable sample.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8.sv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798382"/>
            <a:ext cx="7992726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spc="-55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Confluence </a:t>
            </a:r>
            <a:r>
              <a:rPr lang="en-US" sz="5479" spc="-55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Buildathon</a:t>
            </a:r>
            <a:endParaRPr lang="en-US" sz="5479" spc="-55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80564" y="3492579"/>
            <a:ext cx="40672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IEEE CS . PES University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4384777"/>
            <a:ext cx="16140713" cy="3427809"/>
            <a:chOff x="0" y="0"/>
            <a:chExt cx="21520950" cy="457041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520911" cy="4570349"/>
            </a:xfrm>
            <a:custGeom>
              <a:avLst/>
              <a:gdLst/>
              <a:ahLst/>
              <a:cxnLst/>
              <a:rect l="l" t="t" r="r" b="b"/>
              <a:pathLst>
                <a:path w="21520911" h="457034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21459189" y="0"/>
                  </a:lnTo>
                  <a:cubicBezTo>
                    <a:pt x="21493353" y="0"/>
                    <a:pt x="21520911" y="27686"/>
                    <a:pt x="21520911" y="61722"/>
                  </a:cubicBezTo>
                  <a:lnTo>
                    <a:pt x="21520911" y="4508627"/>
                  </a:lnTo>
                  <a:cubicBezTo>
                    <a:pt x="21520911" y="4542790"/>
                    <a:pt x="21493226" y="4570349"/>
                    <a:pt x="21459189" y="4570349"/>
                  </a:cubicBezTo>
                  <a:lnTo>
                    <a:pt x="61722" y="4570349"/>
                  </a:lnTo>
                  <a:cubicBezTo>
                    <a:pt x="27559" y="4570349"/>
                    <a:pt x="0" y="4542663"/>
                    <a:pt x="0" y="450862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80564" y="4384777"/>
            <a:ext cx="8070352" cy="1713900"/>
            <a:chOff x="0" y="0"/>
            <a:chExt cx="10760469" cy="22852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51435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0" y="2285238"/>
                  </a:lnTo>
                  <a:lnTo>
                    <a:pt x="0" y="51435"/>
                  </a:lnTo>
                  <a:cubicBezTo>
                    <a:pt x="0" y="22987"/>
                    <a:pt x="22987" y="0"/>
                    <a:pt x="51435" y="0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389317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89317" y="5250647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Sunday, October 25th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150925" y="4384777"/>
            <a:ext cx="8070352" cy="1713900"/>
            <a:chOff x="0" y="0"/>
            <a:chExt cx="10760469" cy="22852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09021" y="0"/>
                  </a:lnTo>
                  <a:cubicBezTo>
                    <a:pt x="10737469" y="0"/>
                    <a:pt x="10760456" y="22987"/>
                    <a:pt x="10760456" y="51435"/>
                  </a:cubicBezTo>
                  <a:lnTo>
                    <a:pt x="10760456" y="2285238"/>
                  </a:ln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9150925" y="4384777"/>
            <a:ext cx="38129" cy="1713900"/>
            <a:chOff x="0" y="0"/>
            <a:chExt cx="50838" cy="22852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14" name="TextBox 14"/>
          <p:cNvSpPr txBox="1"/>
          <p:nvPr/>
        </p:nvSpPr>
        <p:spPr>
          <a:xfrm>
            <a:off x="9459678" y="46840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Time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459678" y="5250647"/>
            <a:ext cx="7452846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8:00 AM – 6:00 PM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80564" y="6098677"/>
            <a:ext cx="8070352" cy="1713900"/>
            <a:chOff x="0" y="0"/>
            <a:chExt cx="10760469" cy="22852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85238"/>
                  </a:lnTo>
                  <a:lnTo>
                    <a:pt x="51435" y="2285238"/>
                  </a:lnTo>
                  <a:cubicBezTo>
                    <a:pt x="22987" y="2285238"/>
                    <a:pt x="0" y="2262251"/>
                    <a:pt x="0" y="2233803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1080564" y="6098677"/>
            <a:ext cx="8070352" cy="38129"/>
            <a:chOff x="0" y="0"/>
            <a:chExt cx="10760469" cy="5083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0" name="TextBox 20"/>
          <p:cNvSpPr txBox="1"/>
          <p:nvPr/>
        </p:nvSpPr>
        <p:spPr>
          <a:xfrm>
            <a:off x="1389317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Venue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89317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13th Floor, BE Block, PES University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9150925" y="6098677"/>
            <a:ext cx="8070352" cy="1713900"/>
            <a:chOff x="0" y="0"/>
            <a:chExt cx="10760469" cy="22852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0760456" cy="2285238"/>
            </a:xfrm>
            <a:custGeom>
              <a:avLst/>
              <a:gdLst/>
              <a:ahLst/>
              <a:cxnLst/>
              <a:rect l="l" t="t" r="r" b="b"/>
              <a:pathLst>
                <a:path w="10760456" h="2285238">
                  <a:moveTo>
                    <a:pt x="0" y="0"/>
                  </a:moveTo>
                  <a:lnTo>
                    <a:pt x="10760456" y="0"/>
                  </a:lnTo>
                  <a:lnTo>
                    <a:pt x="10760456" y="2233803"/>
                  </a:lnTo>
                  <a:cubicBezTo>
                    <a:pt x="10760456" y="2262251"/>
                    <a:pt x="10737469" y="2285238"/>
                    <a:pt x="10709022" y="2285238"/>
                  </a:cubicBezTo>
                  <a:lnTo>
                    <a:pt x="0" y="228523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9150925" y="6098677"/>
            <a:ext cx="38129" cy="1713900"/>
            <a:chOff x="0" y="0"/>
            <a:chExt cx="50838" cy="228520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50800" cy="2285238"/>
            </a:xfrm>
            <a:custGeom>
              <a:avLst/>
              <a:gdLst/>
              <a:ahLst/>
              <a:cxnLst/>
              <a:rect l="l" t="t" r="r" b="b"/>
              <a:pathLst>
                <a:path w="50800" h="2285238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2259838"/>
                  </a:lnTo>
                  <a:cubicBezTo>
                    <a:pt x="50800" y="2273935"/>
                    <a:pt x="39370" y="2285238"/>
                    <a:pt x="25400" y="2285238"/>
                  </a:cubicBezTo>
                  <a:cubicBezTo>
                    <a:pt x="11430" y="2285238"/>
                    <a:pt x="0" y="2273808"/>
                    <a:pt x="0" y="2259838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150925" y="6098677"/>
            <a:ext cx="8070352" cy="38129"/>
            <a:chOff x="0" y="0"/>
            <a:chExt cx="10760469" cy="5083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0760456" cy="50800"/>
            </a:xfrm>
            <a:custGeom>
              <a:avLst/>
              <a:gdLst/>
              <a:ahLst/>
              <a:cxnLst/>
              <a:rect l="l" t="t" r="r" b="b"/>
              <a:pathLst>
                <a:path w="10760456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0735056" y="0"/>
                  </a:lnTo>
                  <a:cubicBezTo>
                    <a:pt x="10749153" y="0"/>
                    <a:pt x="10760456" y="11430"/>
                    <a:pt x="10760456" y="25400"/>
                  </a:cubicBezTo>
                  <a:cubicBezTo>
                    <a:pt x="10760456" y="39497"/>
                    <a:pt x="10749026" y="50800"/>
                    <a:pt x="10735056" y="50800"/>
                  </a:cubicBezTo>
                  <a:lnTo>
                    <a:pt x="25400" y="50800"/>
                  </a:lnTo>
                  <a:cubicBezTo>
                    <a:pt x="11430" y="50800"/>
                    <a:pt x="0" y="39497"/>
                    <a:pt x="0" y="25400"/>
                  </a:cubicBezTo>
                  <a:close/>
                </a:path>
              </a:pathLst>
            </a:custGeom>
            <a:solidFill>
              <a:srgbClr val="D8D4D4"/>
            </a:solidFill>
          </p:spPr>
        </p:sp>
      </p:grpSp>
      <p:sp>
        <p:nvSpPr>
          <p:cNvPr id="28" name="TextBox 28"/>
          <p:cNvSpPr txBox="1"/>
          <p:nvPr/>
        </p:nvSpPr>
        <p:spPr>
          <a:xfrm>
            <a:off x="9459678" y="6397914"/>
            <a:ext cx="745284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Team Size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459678" y="6964556"/>
            <a:ext cx="7452846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3–4 members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32" name="Freeform 32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 Members &amp; Track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858193" y="3612100"/>
            <a:ext cx="6448987" cy="4064546"/>
            <a:chOff x="0" y="0"/>
            <a:chExt cx="8598649" cy="541939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598535" cy="5419344"/>
            </a:xfrm>
            <a:custGeom>
              <a:avLst/>
              <a:gdLst/>
              <a:ahLst/>
              <a:cxnLst/>
              <a:rect l="l" t="t" r="r" b="b"/>
              <a:pathLst>
                <a:path w="8598535" h="5419344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536813" y="0"/>
                  </a:lnTo>
                  <a:cubicBezTo>
                    <a:pt x="8570976" y="0"/>
                    <a:pt x="8598535" y="27686"/>
                    <a:pt x="8598535" y="61722"/>
                  </a:cubicBezTo>
                  <a:lnTo>
                    <a:pt x="8598535" y="5357622"/>
                  </a:lnTo>
                  <a:cubicBezTo>
                    <a:pt x="8598535" y="5391785"/>
                    <a:pt x="8570849" y="5419344"/>
                    <a:pt x="8536813" y="5419344"/>
                  </a:cubicBezTo>
                  <a:lnTo>
                    <a:pt x="61722" y="5419344"/>
                  </a:lnTo>
                  <a:cubicBezTo>
                    <a:pt x="27559" y="5419344"/>
                    <a:pt x="0" y="5391658"/>
                    <a:pt x="0" y="5357622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5" name="TextBox 5"/>
          <p:cNvSpPr txBox="1"/>
          <p:nvPr/>
        </p:nvSpPr>
        <p:spPr>
          <a:xfrm>
            <a:off x="1166946" y="3930368"/>
            <a:ext cx="222992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We 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66946" y="4592060"/>
            <a:ext cx="5831481" cy="2654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Team Name</a:t>
            </a:r>
          </a:p>
          <a:p>
            <a:pPr algn="l">
              <a:lnSpc>
                <a:spcPct val="100000"/>
              </a:lnSpc>
            </a:pPr>
            <a:r>
              <a:rPr lang="en-US" sz="2401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Byte Tackle</a:t>
            </a:r>
            <a:endParaRPr lang="en-US" sz="2401" dirty="0">
              <a:solidFill>
                <a:srgbClr val="FFFFFF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Project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Raid Replay</a:t>
            </a: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FFFFFF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Track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Lossless – Bridging systems and formats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847686" y="3930368"/>
            <a:ext cx="257002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Meet the Team</a:t>
            </a:r>
          </a:p>
        </p:txBody>
      </p:sp>
      <p:sp>
        <p:nvSpPr>
          <p:cNvPr id="8" name="Freeform 8" descr="preencoded.png"/>
          <p:cNvSpPr/>
          <p:nvPr/>
        </p:nvSpPr>
        <p:spPr>
          <a:xfrm>
            <a:off x="7847686" y="4706836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9" name="TextBox 9"/>
          <p:cNvSpPr txBox="1"/>
          <p:nvPr/>
        </p:nvSpPr>
        <p:spPr>
          <a:xfrm>
            <a:off x="8347091" y="4977537"/>
            <a:ext cx="3690757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 MANAS SIDDHARDHA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PES1UG24AM186</a:t>
            </a:r>
          </a:p>
        </p:txBody>
      </p:sp>
      <p:sp>
        <p:nvSpPr>
          <p:cNvPr id="10" name="Freeform 10" descr="preencoded.png"/>
          <p:cNvSpPr/>
          <p:nvPr/>
        </p:nvSpPr>
        <p:spPr>
          <a:xfrm>
            <a:off x="12693472" y="4706836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50"/>
                </a:lnTo>
                <a:lnTo>
                  <a:pt x="0" y="11568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1" name="TextBox 11"/>
          <p:cNvSpPr txBox="1"/>
          <p:nvPr/>
        </p:nvSpPr>
        <p:spPr>
          <a:xfrm>
            <a:off x="13192877" y="4977537"/>
            <a:ext cx="3690899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Rohith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Karning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</a:p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PES1UG24AM229</a:t>
            </a:r>
          </a:p>
        </p:txBody>
      </p:sp>
      <p:sp>
        <p:nvSpPr>
          <p:cNvPr id="12" name="Freeform 12" descr="preencoded.png"/>
          <p:cNvSpPr/>
          <p:nvPr/>
        </p:nvSpPr>
        <p:spPr>
          <a:xfrm>
            <a:off x="7847686" y="6172458"/>
            <a:ext cx="4537034" cy="1156849"/>
          </a:xfrm>
          <a:custGeom>
            <a:avLst/>
            <a:gdLst/>
            <a:ahLst/>
            <a:cxnLst/>
            <a:rect l="l" t="t" r="r" b="b"/>
            <a:pathLst>
              <a:path w="4537034" h="1156849">
                <a:moveTo>
                  <a:pt x="0" y="0"/>
                </a:moveTo>
                <a:lnTo>
                  <a:pt x="4537033" y="0"/>
                </a:lnTo>
                <a:lnTo>
                  <a:pt x="4537033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4" b="-565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3" name="TextBox 13"/>
          <p:cNvSpPr txBox="1"/>
          <p:nvPr/>
        </p:nvSpPr>
        <p:spPr>
          <a:xfrm>
            <a:off x="8347091" y="6375488"/>
            <a:ext cx="3690757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Bhuvanashree</a:t>
            </a:r>
            <a:b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PES1UG24AM235</a:t>
            </a:r>
          </a:p>
        </p:txBody>
      </p:sp>
      <p:sp>
        <p:nvSpPr>
          <p:cNvPr id="14" name="Freeform 14" descr="preencoded.png"/>
          <p:cNvSpPr/>
          <p:nvPr/>
        </p:nvSpPr>
        <p:spPr>
          <a:xfrm>
            <a:off x="12693472" y="6172458"/>
            <a:ext cx="4537186" cy="1156849"/>
          </a:xfrm>
          <a:custGeom>
            <a:avLst/>
            <a:gdLst/>
            <a:ahLst/>
            <a:cxnLst/>
            <a:rect l="l" t="t" r="r" b="b"/>
            <a:pathLst>
              <a:path w="4537186" h="1156849">
                <a:moveTo>
                  <a:pt x="0" y="0"/>
                </a:moveTo>
                <a:lnTo>
                  <a:pt x="4537186" y="0"/>
                </a:lnTo>
                <a:lnTo>
                  <a:pt x="4537186" y="1156849"/>
                </a:lnTo>
                <a:lnTo>
                  <a:pt x="0" y="115684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566" b="-567"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15" name="TextBox 15"/>
          <p:cNvSpPr txBox="1"/>
          <p:nvPr/>
        </p:nvSpPr>
        <p:spPr>
          <a:xfrm>
            <a:off x="13077845" y="6376789"/>
            <a:ext cx="3690899" cy="90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Pabbisetty Harshitha Sai</a:t>
            </a:r>
            <a:b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</a:b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PES1UG24AM182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One Line Pitch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545336" y="3886200"/>
            <a:ext cx="941832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Raid Replay</a:t>
            </a: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gives kabaddi the open data standard it's missing: a lossless, two-way bridge between Pro Kabaddi raid‑by‑raid data and IPTC Sport Schema.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1080564" y="3611880"/>
            <a:ext cx="38129" cy="1920240"/>
            <a:chOff x="0" y="0"/>
            <a:chExt cx="50838" cy="154366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0800" cy="1543685"/>
            </a:xfrm>
            <a:custGeom>
              <a:avLst/>
              <a:gdLst/>
              <a:ahLst/>
              <a:cxnLst/>
              <a:rect l="l" t="t" r="r" b="b"/>
              <a:pathLst>
                <a:path w="50800" h="1543685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1518285"/>
                  </a:lnTo>
                  <a:cubicBezTo>
                    <a:pt x="50800" y="1532382"/>
                    <a:pt x="39370" y="1543685"/>
                    <a:pt x="25400" y="1543685"/>
                  </a:cubicBezTo>
                  <a:cubicBezTo>
                    <a:pt x="11430" y="1543685"/>
                    <a:pt x="0" y="1532255"/>
                    <a:pt x="0" y="1518285"/>
                  </a:cubicBezTo>
                  <a:close/>
                </a:path>
              </a:pathLst>
            </a:custGeom>
            <a:solidFill>
              <a:srgbClr val="2D2E34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545336" y="5989320"/>
            <a:ext cx="9418320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230 million people watch Pro Kabaddi, yet no open sports-data standard can describe a single raid.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0" name="Picture 10" descr="Illustration of a kabaddi mat: a raider crosses the midline, tags a defender for one point and return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8600" y="2331720"/>
            <a:ext cx="5559552" cy="49871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Existing Software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080564" y="3959428"/>
            <a:ext cx="694658" cy="694677"/>
            <a:chOff x="0" y="0"/>
            <a:chExt cx="926211" cy="92623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1217438" y="4043658"/>
            <a:ext cx="420910" cy="720952"/>
            <a:chOff x="0" y="0"/>
            <a:chExt cx="561213" cy="96126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1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083975" y="4055954"/>
            <a:ext cx="2363093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Software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60602" y="4975399"/>
            <a:ext cx="669027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Standard: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 Sport Schema — sportschema.org</a:t>
            </a:r>
          </a:p>
          <a:p>
            <a:pPr algn="l">
              <a:lnSpc>
                <a:spcPts val="3602"/>
              </a:lnSpc>
            </a:pPr>
            <a:r>
              <a:rPr lang="en-US" sz="2401" b="1" dirty="0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Data: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</a:t>
            </a:r>
            <a:r>
              <a:rPr lang="en-US" sz="2401" dirty="0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— github.com/</a:t>
            </a:r>
            <a:r>
              <a:rPr lang="en-US" sz="2401" dirty="0" err="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</a:t>
            </a:r>
            <a:endParaRPr lang="en-US" sz="2401" dirty="0">
              <a:solidFill>
                <a:srgbClr val="3D3838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080564" y="6356547"/>
            <a:ext cx="694658" cy="694677"/>
            <a:chOff x="0" y="0"/>
            <a:chExt cx="926211" cy="926236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26211" cy="926211"/>
            </a:xfrm>
            <a:custGeom>
              <a:avLst/>
              <a:gdLst/>
              <a:ahLst/>
              <a:cxnLst/>
              <a:rect l="l" t="t" r="r" b="b"/>
              <a:pathLst>
                <a:path w="926211" h="926211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864489" y="0"/>
                  </a:lnTo>
                  <a:cubicBezTo>
                    <a:pt x="898652" y="0"/>
                    <a:pt x="926211" y="27686"/>
                    <a:pt x="926211" y="61722"/>
                  </a:cubicBezTo>
                  <a:lnTo>
                    <a:pt x="926211" y="864489"/>
                  </a:lnTo>
                  <a:cubicBezTo>
                    <a:pt x="926211" y="898652"/>
                    <a:pt x="898525" y="926211"/>
                    <a:pt x="864489" y="926211"/>
                  </a:cubicBezTo>
                  <a:lnTo>
                    <a:pt x="61722" y="926211"/>
                  </a:lnTo>
                  <a:cubicBezTo>
                    <a:pt x="27686" y="926211"/>
                    <a:pt x="0" y="898652"/>
                    <a:pt x="0" y="864489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217438" y="6440776"/>
            <a:ext cx="420910" cy="720952"/>
            <a:chOff x="0" y="0"/>
            <a:chExt cx="561213" cy="96126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61208" cy="961273"/>
            </a:xfrm>
            <a:custGeom>
              <a:avLst/>
              <a:gdLst/>
              <a:ahLst/>
              <a:cxnLst/>
              <a:rect l="l" t="t" r="r" b="b"/>
              <a:pathLst>
                <a:path w="561208" h="961273">
                  <a:moveTo>
                    <a:pt x="0" y="0"/>
                  </a:moveTo>
                  <a:lnTo>
                    <a:pt x="561208" y="0"/>
                  </a:lnTo>
                  <a:lnTo>
                    <a:pt x="561208" y="961273"/>
                  </a:lnTo>
                  <a:lnTo>
                    <a:pt x="0" y="9612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0405" r="-110405" b="2701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561213" cy="9612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963"/>
                </a:lnSpc>
              </a:pPr>
              <a:r>
                <a:rPr lang="en-US" sz="3302" b="1" spc="-33">
                  <a:solidFill>
                    <a:srgbClr val="3D3838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2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2083975" y="6356547"/>
            <a:ext cx="2224802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It Does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083975" y="7133796"/>
            <a:ext cx="669027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is IPTC's open standard for sharing sports results, stats and play-by-play. kabaddiPy collects raid-by-raid data from 10 seasons of Pro Kabaddi.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9537125" y="3959428"/>
            <a:ext cx="7693685" cy="2971800"/>
            <a:chOff x="0" y="0"/>
            <a:chExt cx="10258247" cy="279876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58171" cy="2798699"/>
            </a:xfrm>
            <a:custGeom>
              <a:avLst/>
              <a:gdLst/>
              <a:ahLst/>
              <a:cxnLst/>
              <a:rect l="l" t="t" r="r" b="b"/>
              <a:pathLst>
                <a:path w="10258171" h="2798699">
                  <a:moveTo>
                    <a:pt x="0" y="61722"/>
                  </a:moveTo>
                  <a:cubicBezTo>
                    <a:pt x="0" y="27686"/>
                    <a:pt x="27686" y="0"/>
                    <a:pt x="61722" y="0"/>
                  </a:cubicBezTo>
                  <a:lnTo>
                    <a:pt x="10196449" y="0"/>
                  </a:lnTo>
                  <a:cubicBezTo>
                    <a:pt x="10230485" y="0"/>
                    <a:pt x="10258171" y="27686"/>
                    <a:pt x="10258171" y="61722"/>
                  </a:cubicBezTo>
                  <a:lnTo>
                    <a:pt x="10258171" y="2736977"/>
                  </a:lnTo>
                  <a:cubicBezTo>
                    <a:pt x="10258171" y="2771013"/>
                    <a:pt x="10230485" y="2798699"/>
                    <a:pt x="10196449" y="2798699"/>
                  </a:cubicBezTo>
                  <a:lnTo>
                    <a:pt x="61722" y="2798699"/>
                  </a:lnTo>
                  <a:cubicBezTo>
                    <a:pt x="27686" y="2798699"/>
                    <a:pt x="0" y="2771013"/>
                    <a:pt x="0" y="2736977"/>
                  </a:cubicBezTo>
                  <a:close/>
                </a:path>
              </a:pathLst>
            </a:custGeom>
            <a:solidFill>
              <a:srgbClr val="F2EEEE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9830773" y="4279468"/>
            <a:ext cx="7106390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000000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 Gap We Found</a:t>
            </a:r>
          </a:p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 Schema has plugins for 10 sports, but none for kabaddi. Raids, super tackles, do‑or‑die raids and all‑outs have no standard home, so every dataset uses a one‑off format.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537125" y="8595436"/>
            <a:ext cx="7693685" cy="8990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Kabaddi is our first step: the same plugin pattern works for any sport the standards leave out.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23" name="Freeform 23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pic>
        <p:nvPicPr>
          <p:cNvPr id="24" name="Picture 24" descr="Sport Schema plugins include soccer, tennis, rugby and esports, but not kabaddi.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7192" y="7223836"/>
            <a:ext cx="7690104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Idea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80564" y="6537960"/>
            <a:ext cx="363140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We're Building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0564" y="7095744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proposed kabaddi plugin for IPTC Sport Schema, plus a converter that turns Pro Kabaddi raid data into Sport Schema and back.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589432" y="6537960"/>
            <a:ext cx="430716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The Improvement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589433" y="7095744"/>
            <a:ext cx="5122964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Every raid, tackle, bonus, all-out, card and review becomes standard data that any news site, fantasy app or analyst can read.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98312" y="6537961"/>
            <a:ext cx="4741888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It Fits the Track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98312" y="7095744"/>
            <a:ext cx="5122964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A lossless bridge between two named systems, kabaddiPy data and IPTC Sport Schema, round-tripped on 5 matches with 0 differences.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1" name="Freeform 11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pic>
        <p:nvPicPr>
          <p:cNvPr id="12" name="Picture 12" descr="kabaddiPy data converts to Raid Replay's converter and kabaddi plugin, then to IPTC Sport Schema, and back again with 0 differences.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3611880"/>
            <a:ext cx="16139159" cy="23957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Approach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386940" y="4055082"/>
            <a:ext cx="3636586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 &amp; Technologies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86940" y="4716775"/>
            <a:ext cx="7315200" cy="5392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Python + rdflib: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Sport Schema graphs as JSON-LD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pySHACL: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IPTC's shapes plus our kabaddi shapes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kabaddiPy-data: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data, seasons 1–10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DeepDiff: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round-trip check,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HTML, SVG + JavaScript: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the animated replay mat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372382" y="4055082"/>
            <a:ext cx="684889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What We'll Definitely Finish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372382" y="4716099"/>
            <a:ext cx="6848894" cy="4418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Kabaddi vocabulary + validation shapes: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raids, tackles, bonus, super tackles, do-or-die, all-outs, cards, reviews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Two-way converter: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to Sport Schema and back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Round-trip proof: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5 test matches, 0 differences</a:t>
            </a:r>
          </a:p>
          <a:p>
            <a:pPr algn="l">
              <a:lnSpc>
                <a:spcPts val="3602"/>
              </a:lnSpc>
              <a:spcAft>
                <a:spcPts val="900"/>
              </a:spcAft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Then:</a:t>
            </a: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 raid-by-raid replay of the Season 10 semi-final</a:t>
            </a:r>
          </a:p>
        </p:txBody>
      </p:sp>
      <p:sp>
        <p:nvSpPr>
          <p:cNvPr id="7" name="AutoShape 7"/>
          <p:cNvSpPr/>
          <p:nvPr/>
        </p:nvSpPr>
        <p:spPr>
          <a:xfrm flipH="1" flipV="1">
            <a:off x="9144000" y="4064607"/>
            <a:ext cx="0" cy="5577579"/>
          </a:xfrm>
          <a:prstGeom prst="line">
            <a:avLst/>
          </a:prstGeom>
          <a:ln w="38100" cap="flat">
            <a:solidFill>
              <a:srgbClr val="85858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43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80564" y="2286000"/>
            <a:ext cx="12801600" cy="8524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479" b="1" spc="-55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We'll Show It Works</a:t>
            </a:r>
          </a:p>
        </p:txBody>
      </p:sp>
      <p:sp>
        <p:nvSpPr>
          <p:cNvPr id="3" name="Freeform 3" descr="preencoded.png"/>
          <p:cNvSpPr/>
          <p:nvPr/>
        </p:nvSpPr>
        <p:spPr>
          <a:xfrm>
            <a:off x="1080564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427445" y="5030201"/>
            <a:ext cx="2717244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Before vs. After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27445" y="5587308"/>
            <a:ext cx="4480589" cy="14654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5 matches go to Sport Schema and back with 0 differences, and every file passes validation.</a:t>
            </a:r>
          </a:p>
        </p:txBody>
      </p:sp>
      <p:sp>
        <p:nvSpPr>
          <p:cNvPr id="6" name="Freeform 6" descr="preencoded.png"/>
          <p:cNvSpPr/>
          <p:nvPr/>
        </p:nvSpPr>
        <p:spPr>
          <a:xfrm>
            <a:off x="6563668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1" y="0"/>
                </a:lnTo>
                <a:lnTo>
                  <a:pt x="5174351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910549" y="5030201"/>
            <a:ext cx="2296835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Who Benefits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910549" y="5587308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Sports news sites, fantasy apps, kabaddi analysts and coaches, and other kabaddi leagues.</a:t>
            </a:r>
          </a:p>
        </p:txBody>
      </p:sp>
      <p:sp>
        <p:nvSpPr>
          <p:cNvPr id="9" name="Freeform 9" descr="preencoded.png"/>
          <p:cNvSpPr/>
          <p:nvPr/>
        </p:nvSpPr>
        <p:spPr>
          <a:xfrm>
            <a:off x="12046772" y="3766547"/>
            <a:ext cx="5174351" cy="3633054"/>
          </a:xfrm>
          <a:custGeom>
            <a:avLst/>
            <a:gdLst/>
            <a:ahLst/>
            <a:cxnLst/>
            <a:rect l="l" t="t" r="r" b="b"/>
            <a:pathLst>
              <a:path w="5174351" h="3633054">
                <a:moveTo>
                  <a:pt x="0" y="0"/>
                </a:moveTo>
                <a:lnTo>
                  <a:pt x="5174352" y="0"/>
                </a:lnTo>
                <a:lnTo>
                  <a:pt x="5174352" y="3633055"/>
                </a:lnTo>
                <a:lnTo>
                  <a:pt x="0" y="363305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136" b="-136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2393663" y="4824124"/>
            <a:ext cx="3349347" cy="412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2"/>
              </a:lnSpc>
            </a:pPr>
            <a:r>
              <a:rPr lang="en-US" sz="2702" b="1" spc="-27" dirty="0">
                <a:solidFill>
                  <a:srgbClr val="3D383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Risk &amp; Backup Plan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393663" y="5587308"/>
            <a:ext cx="4480589" cy="1002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>
                <a:solidFill>
                  <a:srgbClr val="3D3838"/>
                </a:solidFill>
                <a:latin typeface="Source Sans 3"/>
                <a:ea typeface="Source Sans 3"/>
                <a:cs typeface="Source Sans 3"/>
                <a:sym typeface="Source Sans 3"/>
              </a:rPr>
              <a:t>kabaddiPy-data has no licence file. We'll ask its authors and keep a synthetic match ready.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1028700" y="505197"/>
            <a:ext cx="1985485" cy="606814"/>
            <a:chOff x="0" y="0"/>
            <a:chExt cx="3470605" cy="10607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470656" cy="1060704"/>
            </a:xfrm>
            <a:custGeom>
              <a:avLst/>
              <a:gdLst/>
              <a:ahLst/>
              <a:cxnLst/>
              <a:rect l="l" t="t" r="r" b="b"/>
              <a:pathLst>
                <a:path w="3470656" h="1060704">
                  <a:moveTo>
                    <a:pt x="0" y="0"/>
                  </a:moveTo>
                  <a:lnTo>
                    <a:pt x="3470656" y="0"/>
                  </a:lnTo>
                  <a:lnTo>
                    <a:pt x="3470656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43"/>
              </a:stretch>
            </a:blipFill>
          </p:spPr>
        </p:sp>
      </p:grpSp>
      <p:sp>
        <p:nvSpPr>
          <p:cNvPr id="14" name="Freeform 14"/>
          <p:cNvSpPr/>
          <p:nvPr/>
        </p:nvSpPr>
        <p:spPr>
          <a:xfrm>
            <a:off x="15618299" y="421886"/>
            <a:ext cx="1602977" cy="773436"/>
          </a:xfrm>
          <a:custGeom>
            <a:avLst/>
            <a:gdLst/>
            <a:ahLst/>
            <a:cxnLst/>
            <a:rect l="l" t="t" r="r" b="b"/>
            <a:pathLst>
              <a:path w="1602977" h="773436">
                <a:moveTo>
                  <a:pt x="0" y="0"/>
                </a:moveTo>
                <a:lnTo>
                  <a:pt x="1602977" y="0"/>
                </a:lnTo>
                <a:lnTo>
                  <a:pt x="1602977" y="773436"/>
                </a:lnTo>
                <a:lnTo>
                  <a:pt x="0" y="7734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78992" y="7780592"/>
            <a:ext cx="16139159" cy="914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2401" b="1">
                <a:solidFill>
                  <a:srgbClr val="3D3838"/>
                </a:solidFill>
                <a:latin typeface="Source Sans 3 Bold"/>
                <a:ea typeface="Source Sans 3 Bold"/>
                <a:cs typeface="Source Sans 3 Bold"/>
                <a:sym typeface="Source Sans 3 Bold"/>
              </a:rPr>
              <a:t>Live demo: </a:t>
            </a:r>
            <a:r>
              <a:rPr lang="en-US" sz="2401" i="1">
                <a:solidFill>
                  <a:srgbClr val="3D3838"/>
                </a:solidFill>
                <a:latin typeface="Source Sans 3 Italics"/>
                <a:ea typeface="Source Sans 3 Italics"/>
                <a:cs typeface="Source Sans 3 Italics"/>
                <a:sym typeface="Source Sans 3 Italics"/>
              </a:rPr>
              <a:t>the Season 10 semi-final replays raid by raid on an animated mat, driven only by our converted file. Same scoreboard from both formats, diff = 0.</a:t>
            </a:r>
          </a:p>
        </p:txBody>
      </p:sp>
      <p:pic>
        <p:nvPicPr>
          <p:cNvPr id="21" name="Picture 21" descr="Round-trip 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27445" y="3995146"/>
            <a:ext cx="548640" cy="548640"/>
          </a:xfrm>
          <a:prstGeom prst="rect">
            <a:avLst/>
          </a:prstGeom>
        </p:spPr>
      </p:pic>
      <p:pic>
        <p:nvPicPr>
          <p:cNvPr id="22" name="Picture 22" descr="People 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10549" y="3995146"/>
            <a:ext cx="548640" cy="548640"/>
          </a:xfrm>
          <a:prstGeom prst="rect">
            <a:avLst/>
          </a:prstGeom>
        </p:spPr>
      </p:pic>
      <p:pic>
        <p:nvPicPr>
          <p:cNvPr id="23" name="Picture 23" descr="Shield 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393663" y="3995146"/>
            <a:ext cx="548640" cy="548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</TotalTime>
  <Words>854</Words>
  <Application>Microsoft Office PowerPoint</Application>
  <PresentationFormat>Custom</PresentationFormat>
  <Paragraphs>95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Source Sans 3</vt:lpstr>
      <vt:lpstr>Source Sans 3 Bold</vt:lpstr>
      <vt:lpstr>Source Sans 3 Italics</vt:lpstr>
      <vt:lpstr>Calibri</vt:lpstr>
      <vt:lpstr>League Spartan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Confluence-Buildathon .pptx</dc:title>
  <cp:lastModifiedBy>MANAS SIDDHARDHA P</cp:lastModifiedBy>
  <cp:revision>5</cp:revision>
  <dcterms:created xsi:type="dcterms:W3CDTF">2006-08-16T00:00:00Z</dcterms:created>
  <dcterms:modified xsi:type="dcterms:W3CDTF">2026-10-21T06:17:05Z</dcterms:modified>
  <dc:identifier>DAHX_KLmqzA</dc:identifier>
</cp:coreProperties>
</file>